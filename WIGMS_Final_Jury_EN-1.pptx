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486400" cy="5486400"/>
          </a:xfrm>
          <a:prstGeom prst="ellipse">
            <a:avLst/>
          </a:prstGeom>
          <a:solidFill>
            <a:srgbClr val="7B3F6E">
              <a:alpha val="16000"/>
            </a:srgbClr>
          </a:solidFill>
          <a:ln w="12700">
            <a:solidFill>
              <a:srgbClr val="7B3F6E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657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— JURY PRESENTATION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11480" y="960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WIGMS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411480" y="2377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484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Wedding Guest Information Management System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11480" y="3017520"/>
            <a:ext cx="3200400" cy="4114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21868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218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 Language + GTK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69417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36941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Windows Desktop Application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696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41696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Complete Software Engineering Project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11480" y="47091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Centralize · Organize · Simplify wedding planning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D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3977640" cy="347472"/>
          </a:xfrm>
          <a:prstGeom prst="rect">
            <a:avLst/>
          </a:prstGeom>
          <a:solidFill>
            <a:srgbClr val="B0392B"/>
          </a:solidFill>
          <a:ln w="12700">
            <a:solidFill>
              <a:srgbClr val="B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WIGMS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Guest information scattered everywhere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Seating plan confusing and manual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Gifts forgotten or poorly recorded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Parking disorganized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Event schedule hard to follow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Frequent errors and wasted time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4251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914400"/>
            <a:ext cx="4251960" cy="34747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9144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WIGMS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13716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Centralized guest database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09160" y="1874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Automatic table assignment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9160" y="23774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Full gift tracking + thank-you notes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09160" y="28803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Parking space management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9160" y="3383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Integrated event schedule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09160" y="38862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User-friendly interface, zero errors</a:t>
            </a:r>
            <a:endParaRPr lang="en-US" sz="11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808" y="2286000"/>
            <a:ext cx="420624" cy="420624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4626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Analysis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673352" y="4626864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737360" y="4626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090672" y="4626864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154680" y="4626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Coding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07992" y="4626864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72000" y="4626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Testing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925312" y="4626864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989320" y="4626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Documentation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342632" y="4626864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406640" y="4626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7B3F6E">
              <a:alpha val="17000"/>
            </a:srgbClr>
          </a:solidFill>
          <a:ln w="12700">
            <a:solidFill>
              <a:srgbClr val="7B3F6E">
                <a:alpha val="1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Modules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484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independent modules — each with its own dedicated .c / .h files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" y="12344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234440"/>
            <a:ext cx="64008" cy="7498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3807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42646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1298448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24128" y="1536192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person.c / person.h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24128" y="1719072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Name, phone, address, email, RSVP — full CRUD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234440"/>
            <a:ext cx="64008" cy="749808"/>
          </a:xfrm>
          <a:prstGeom prst="rect">
            <a:avLst/>
          </a:prstGeom>
          <a:solidFill>
            <a:srgbClr val="D4849A"/>
          </a:solidFill>
          <a:ln w="12700">
            <a:solidFill>
              <a:srgbClr val="D4849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64608" y="13807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426464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1298448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40680" y="1536192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category.c / category.h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440680" y="1719072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Family, Friends, Colleagues, VIP — guest classification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92608" y="21488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92608" y="2148840"/>
            <a:ext cx="64008" cy="749808"/>
          </a:xfrm>
          <a:prstGeom prst="rect">
            <a:avLst/>
          </a:prstGeom>
          <a:solidFill>
            <a:srgbClr val="7EC8B0"/>
          </a:solidFill>
          <a:ln w="12700">
            <a:solidFill>
              <a:srgbClr val="7EC8B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48056" y="22951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340864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24128" y="2212848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024128" y="2450592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gift.c / gift.h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024128" y="2633472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Gift, value, linked guest — tracking &amp; thank-you notes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709160" y="21488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709160" y="2148840"/>
            <a:ext cx="64008" cy="7498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864608" y="22951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340864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40680" y="2212848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40680" y="2450592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seating.c / seating.h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440680" y="2633472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Table number, seat number — organized placement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292608" y="30632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292608" y="3063240"/>
            <a:ext cx="64008" cy="749808"/>
          </a:xfrm>
          <a:prstGeom prst="rect">
            <a:avLst/>
          </a:prstGeom>
          <a:solidFill>
            <a:srgbClr val="D4849A"/>
          </a:solidFill>
          <a:ln w="12700">
            <a:solidFill>
              <a:srgbClr val="D4849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48056" y="32095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255264"/>
            <a:ext cx="365760" cy="36576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024128" y="3127248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1024128" y="3364992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parking.c / parking.h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1024128" y="3547872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Vehicle details, allocated spot — parking management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4709160" y="30632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4709160" y="3063240"/>
            <a:ext cx="64008" cy="749808"/>
          </a:xfrm>
          <a:prstGeom prst="rect">
            <a:avLst/>
          </a:prstGeom>
          <a:solidFill>
            <a:srgbClr val="7EC8B0"/>
          </a:solidFill>
          <a:ln w="12700">
            <a:solidFill>
              <a:srgbClr val="7EC8B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4864608" y="32095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255264"/>
            <a:ext cx="365760" cy="36576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440680" y="3127248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5440680" y="3364992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schedule.c / schedule.h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5440680" y="3547872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Arrival, ceremony, dinner, cake cutting, dancing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292608" y="39776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292608" y="3977640"/>
            <a:ext cx="64008" cy="7498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448056" y="41239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4169664"/>
            <a:ext cx="365760" cy="36576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1024128" y="4041648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00" dirty="0"/>
          </a:p>
        </p:txBody>
      </p:sp>
      <p:sp>
        <p:nvSpPr>
          <p:cNvPr id="53" name="Text 44"/>
          <p:cNvSpPr/>
          <p:nvPr/>
        </p:nvSpPr>
        <p:spPr>
          <a:xfrm>
            <a:off x="1024128" y="4279392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priority.c / priority.h</a:t>
            </a:r>
            <a:endParaRPr lang="en-US" sz="950" dirty="0"/>
          </a:p>
        </p:txBody>
      </p:sp>
      <p:sp>
        <p:nvSpPr>
          <p:cNvPr id="54" name="Text 45"/>
          <p:cNvSpPr/>
          <p:nvPr/>
        </p:nvSpPr>
        <p:spPr>
          <a:xfrm>
            <a:off x="1024128" y="4462272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VIP, close family, special guests — priority levels</a:t>
            </a:r>
            <a:endParaRPr lang="en-US" sz="950" dirty="0"/>
          </a:p>
        </p:txBody>
      </p:sp>
      <p:sp>
        <p:nvSpPr>
          <p:cNvPr id="55" name="Shape 46"/>
          <p:cNvSpPr/>
          <p:nvPr/>
        </p:nvSpPr>
        <p:spPr>
          <a:xfrm>
            <a:off x="4709160" y="39776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4709160" y="3977640"/>
            <a:ext cx="64008" cy="749808"/>
          </a:xfrm>
          <a:prstGeom prst="rect">
            <a:avLst/>
          </a:prstGeom>
          <a:solidFill>
            <a:srgbClr val="D4849A"/>
          </a:solidFill>
          <a:ln w="12700">
            <a:solidFill>
              <a:srgbClr val="D4849A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4864608" y="41239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4169664"/>
            <a:ext cx="365760" cy="365760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5440680" y="4041648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GTK</a:t>
            </a:r>
            <a:endParaRPr lang="en-US" sz="1200" dirty="0"/>
          </a:p>
        </p:txBody>
      </p:sp>
      <p:sp>
        <p:nvSpPr>
          <p:cNvPr id="60" name="Text 50"/>
          <p:cNvSpPr/>
          <p:nvPr/>
        </p:nvSpPr>
        <p:spPr>
          <a:xfrm>
            <a:off x="5440680" y="4279392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ui_gtk.c / ui_gtk.h</a:t>
            </a:r>
            <a:endParaRPr lang="en-US" sz="950" dirty="0"/>
          </a:p>
        </p:txBody>
      </p:sp>
      <p:sp>
        <p:nvSpPr>
          <p:cNvPr id="61" name="Text 51"/>
          <p:cNvSpPr/>
          <p:nvPr/>
        </p:nvSpPr>
        <p:spPr>
          <a:xfrm>
            <a:off x="5440680" y="4462272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Forms, buttons, tables, navigation — GTK interface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6E"/>
          </a:solidFill>
          <a:ln w="12700">
            <a:solidFill>
              <a:srgbClr val="7B3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D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&amp; Project Structure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54864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5272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30759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2252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14904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programming, structures, pointers, memory management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189280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1892808"/>
            <a:ext cx="54864" cy="621792"/>
          </a:xfrm>
          <a:prstGeom prst="rect">
            <a:avLst/>
          </a:prstGeom>
          <a:solidFill>
            <a:srgbClr val="7B3F6E"/>
          </a:solidFill>
          <a:ln w="12700">
            <a:solidFill>
              <a:srgbClr val="7B3F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912" y="1975104"/>
            <a:ext cx="457200" cy="457200"/>
          </a:xfrm>
          <a:prstGeom prst="ellipse">
            <a:avLst/>
          </a:prstGeom>
          <a:solidFill>
            <a:srgbClr val="7B3F6E"/>
          </a:solidFill>
          <a:ln w="12700">
            <a:solidFill>
              <a:srgbClr val="7B3F6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202996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05840" y="1947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GTK (GUI)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05840" y="22128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Windows, forms, buttons, tables, events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0040" y="261518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615184"/>
            <a:ext cx="54864" cy="62179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38912" y="26974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752344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2670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 / .csv Files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005840" y="2935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persistence: guests_access.csv + *.dat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20040" y="333756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20040" y="3337560"/>
            <a:ext cx="54864" cy="621792"/>
          </a:xfrm>
          <a:prstGeom prst="rect">
            <a:avLst/>
          </a:prstGeom>
          <a:solidFill>
            <a:srgbClr val="B0392B"/>
          </a:solidFill>
          <a:ln w="12700">
            <a:solidFill>
              <a:srgbClr val="B0392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8912" y="3419856"/>
            <a:ext cx="457200" cy="457200"/>
          </a:xfrm>
          <a:prstGeom prst="ellipse">
            <a:avLst/>
          </a:prstGeom>
          <a:solidFill>
            <a:srgbClr val="B0392B"/>
          </a:solidFill>
          <a:ln w="12700">
            <a:solidFill>
              <a:srgbClr val="B0392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3474720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5840" y="33924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005840" y="36576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site: index, person, gift, parking, schedule pages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20040" y="405993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0040" y="4059936"/>
            <a:ext cx="54864" cy="6217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38912" y="4142232"/>
            <a:ext cx="457200" cy="45720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4197096"/>
            <a:ext cx="347472" cy="34747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05840" y="4114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1005840" y="43799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Automated compilation — generates wigms.exe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4754880" y="822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4754880" y="1170432"/>
            <a:ext cx="4069080" cy="3749040"/>
          </a:xfrm>
          <a:prstGeom prst="rect">
            <a:avLst/>
          </a:prstGeom>
          <a:solidFill>
            <a:srgbClr val="1B2A4A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4919472" y="12435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WIGMS/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5175504" y="14859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8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src/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5431536" y="172821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person.c  category.c  gift.c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5431536" y="197053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seating.c  parking.c  schedule.c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5431536" y="2212848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priority.c  ui_gtk.c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5175504" y="245516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8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include/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5431536" y="2697480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*.h  (one header per module)</a:t>
            </a:r>
            <a:endParaRPr lang="en-US" sz="950" dirty="0"/>
          </a:p>
        </p:txBody>
      </p:sp>
      <p:sp>
        <p:nvSpPr>
          <p:cNvPr id="45" name="Text 38"/>
          <p:cNvSpPr/>
          <p:nvPr/>
        </p:nvSpPr>
        <p:spPr>
          <a:xfrm>
            <a:off x="5175504" y="293979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8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data/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5431536" y="318211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guests_access.csv  *.dat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5175504" y="342442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8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web/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5431536" y="366674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 person.html  gift.html…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5175504" y="390906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8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Report/</a:t>
            </a:r>
            <a:endParaRPr lang="en-US" sz="1050" dirty="0"/>
          </a:p>
        </p:txBody>
      </p:sp>
      <p:sp>
        <p:nvSpPr>
          <p:cNvPr id="50" name="Text 43"/>
          <p:cNvSpPr/>
          <p:nvPr/>
        </p:nvSpPr>
        <p:spPr>
          <a:xfrm>
            <a:off x="5431536" y="415137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report .docx + .pdf</a:t>
            </a:r>
            <a:endParaRPr lang="en-US" sz="950" dirty="0"/>
          </a:p>
        </p:txBody>
      </p:sp>
      <p:sp>
        <p:nvSpPr>
          <p:cNvPr id="51" name="Text 44"/>
          <p:cNvSpPr/>
          <p:nvPr/>
        </p:nvSpPr>
        <p:spPr>
          <a:xfrm>
            <a:off x="5175504" y="439369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Makefile   +   ▶️ wigms.exe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7B3F6E">
              <a:alpha val="18000"/>
            </a:srgbClr>
          </a:solidFill>
          <a:ln w="12700">
            <a:solidFill>
              <a:srgbClr val="7B3F6E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Documentation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955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484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UML Artifacts · Gantt Charts · Academic Reports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" y="1188720"/>
            <a:ext cx="4160520" cy="3566160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188720"/>
            <a:ext cx="4160520" cy="347472"/>
          </a:xfrm>
          <a:prstGeom prst="rect">
            <a:avLst/>
          </a:prstGeom>
          <a:solidFill>
            <a:srgbClr val="7B3F6E"/>
          </a:solidFill>
          <a:ln w="12700">
            <a:solidFill>
              <a:srgbClr val="7B3F6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2529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216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1664208"/>
            <a:ext cx="64008" cy="80467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249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8408" y="16642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78408" y="1938528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interactions with the system — 7 use cases identified: manage guests, RSVP, gifts, seating, parking, schedule, priorities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11480" y="2670048"/>
            <a:ext cx="64008" cy="80467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8833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78408" y="26700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978408" y="2944368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classes: Person, Category, Gift, Seating, Parking, Schedule, Priority, UI — with attributes, methods and associations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11480" y="3675888"/>
            <a:ext cx="64008" cy="80467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694176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78408" y="367588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78408" y="3950208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Interaction flow: User → GTK UI → business module → data file — for each CRUD operation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690872" y="1188720"/>
            <a:ext cx="4160520" cy="3566160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690872" y="1188720"/>
            <a:ext cx="4160520" cy="34747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1225296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75504" y="1216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&amp; Reports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800600" y="1664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Gantt Chart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828032" y="1965960"/>
            <a:ext cx="790042" cy="237744"/>
          </a:xfrm>
          <a:prstGeom prst="rect">
            <a:avLst/>
          </a:prstGeom>
          <a:solidFill>
            <a:srgbClr val="D4849A"/>
          </a:solidFill>
          <a:ln w="12700">
            <a:solidFill>
              <a:srgbClr val="D4849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682082" y="1965960"/>
            <a:ext cx="33247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Analysis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828032" y="2295144"/>
            <a:ext cx="987552" cy="23774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879592" y="229514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828032" y="2624328"/>
            <a:ext cx="1448410" cy="237744"/>
          </a:xfrm>
          <a:prstGeom prst="rect">
            <a:avLst/>
          </a:prstGeom>
          <a:solidFill>
            <a:srgbClr val="7EC8B0"/>
          </a:solidFill>
          <a:ln w="12700">
            <a:solidFill>
              <a:srgbClr val="7EC8B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340450" y="2624328"/>
            <a:ext cx="2666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Coding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828032" y="2953512"/>
            <a:ext cx="658368" cy="237744"/>
          </a:xfrm>
          <a:prstGeom prst="rect">
            <a:avLst/>
          </a:prstGeom>
          <a:solidFill>
            <a:srgbClr val="7B3F6E"/>
          </a:solidFill>
          <a:ln w="12700">
            <a:solidFill>
              <a:srgbClr val="7B3F6E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550408" y="295351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Testing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828032" y="3282696"/>
            <a:ext cx="1185062" cy="237744"/>
          </a:xfrm>
          <a:prstGeom prst="rect">
            <a:avLst/>
          </a:prstGeom>
          <a:solidFill>
            <a:srgbClr val="7A8299"/>
          </a:solidFill>
          <a:ln w="12700">
            <a:solidFill>
              <a:srgbClr val="7A8299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077102" y="3282696"/>
            <a:ext cx="29297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4800600" y="3657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Included</a:t>
            </a:r>
            <a:endParaRPr lang="en-US" sz="10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950208"/>
            <a:ext cx="201168" cy="20116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120640" y="39319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project report (.docx + .pdf)</a:t>
            </a:r>
            <a:endParaRPr lang="en-US" sz="95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4261104"/>
            <a:ext cx="201168" cy="20116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120640" y="42428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and deployment guide</a:t>
            </a:r>
            <a:endParaRPr lang="en-US" sz="95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4572000"/>
            <a:ext cx="201168" cy="20116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120640" y="45537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Detailed UML documentation</a:t>
            </a:r>
            <a:endParaRPr lang="en-US" sz="95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8032" y="4882896"/>
            <a:ext cx="201168" cy="20116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120640" y="4864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Progress reports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731520"/>
            <a:ext cx="5029200" cy="5029200"/>
          </a:xfrm>
          <a:prstGeom prst="ellipse">
            <a:avLst/>
          </a:prstGeom>
          <a:solidFill>
            <a:srgbClr val="7B3F6E">
              <a:alpha val="14000"/>
            </a:srgbClr>
          </a:solidFill>
          <a:ln w="12700">
            <a:solidFill>
              <a:srgbClr val="7B3F6E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645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74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Conclusion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84048" y="1005840"/>
            <a:ext cx="1051560" cy="1051560"/>
          </a:xfrm>
          <a:prstGeom prst="ellipse">
            <a:avLst/>
          </a:prstGeom>
          <a:solidFill>
            <a:srgbClr val="C9A96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4048" y="10241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84048" y="150876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0" y="1005840"/>
            <a:ext cx="1051560" cy="1051560"/>
          </a:xfrm>
          <a:prstGeom prst="ellipse">
            <a:avLst/>
          </a:prstGeom>
          <a:solidFill>
            <a:srgbClr val="7B3F6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645920" y="10241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645920" y="150876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907792" y="1005840"/>
            <a:ext cx="1051560" cy="1051560"/>
          </a:xfrm>
          <a:prstGeom prst="ellipse">
            <a:avLst/>
          </a:prstGeom>
          <a:solidFill>
            <a:srgbClr val="D4849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907792" y="10241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2907792" y="150876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169664" y="1005840"/>
            <a:ext cx="1051560" cy="1051560"/>
          </a:xfrm>
          <a:prstGeom prst="ellipse">
            <a:avLst/>
          </a:prstGeom>
          <a:solidFill>
            <a:srgbClr val="2E7D6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169664" y="10241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169664" y="150876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47472" y="2212848"/>
            <a:ext cx="8412480" cy="438912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304288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86968" y="22768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Fully functional desktop application — wigms.exe delivered and tested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47472" y="2724912"/>
            <a:ext cx="8412480" cy="438912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816352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86968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complete business modules with file persistence (.dat / .csv)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347472" y="3236976"/>
            <a:ext cx="8412480" cy="438912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328416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86968" y="33009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documentation: UML (Use Case, Class, Sequence) + Gantt charts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47472" y="3749040"/>
            <a:ext cx="8412480" cy="438912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840480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86968" y="38130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Multi-page HTML/CSS presentation website included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347472" y="4261104"/>
            <a:ext cx="8412480" cy="438912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352544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6968" y="4325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Usable by any wedding organizer — no technical background required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WIGMS  ·  Built with C + GTK  ·  Software Engineering  ·  Thank you for your attention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WIGMS – Wedding Guest Information Management System</dc:title>
  <dc:subject>PptxGenJS Presentation</dc:subject>
  <dc:creator>PptxGenJS</dc:creator>
  <cp:lastModifiedBy>PptxGenJS</cp:lastModifiedBy>
  <cp:revision>1</cp:revision>
  <dcterms:created xsi:type="dcterms:W3CDTF">2026-05-18T09:34:57Z</dcterms:created>
  <dcterms:modified xsi:type="dcterms:W3CDTF">2026-05-18T09:34:57Z</dcterms:modified>
</cp:coreProperties>
</file>