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1"/>
  </p:sldMasterIdLst>
  <p:notesMasterIdLst>
    <p:notesMasterId r:id="rId8"/>
  </p:notesMasterIdLst>
  <p:sldIdLst>
    <p:sldId id="282" r:id="rId2"/>
    <p:sldId id="283" r:id="rId3"/>
    <p:sldId id="284" r:id="rId4"/>
    <p:sldId id="285" r:id="rId5"/>
    <p:sldId id="286" r:id="rId6"/>
    <p:sldId id="287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0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5/28/2026</a:t>
            </a:fld>
            <a:endParaRPr lang="en-US"/>
          </a:p>
        </p:txBody>
      </p:sp>
      <p:sp>
        <p:nvSpPr>
          <p:cNvPr id="104880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0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0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8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6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6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9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4656290" y="-987380"/>
            <a:ext cx="5486400" cy="5486400"/>
          </a:xfrm>
          <a:prstGeom prst="ellipse">
            <a:avLst/>
          </a:prstGeom>
          <a:solidFill>
            <a:srgbClr val="7B3F6E">
              <a:alpha val="16000"/>
            </a:srgbClr>
          </a:solidFill>
          <a:ln w="12700">
            <a:solidFill>
              <a:srgbClr val="7B3F6E">
                <a:alpha val="16000"/>
              </a:srgbClr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4016210" y="2944368"/>
            <a:ext cx="2743200" cy="27432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12000"/>
              </a:srgbClr>
            </a:solidFill>
            <a:prstDash val="solid"/>
          </a:ln>
        </p:spPr>
      </p:sp>
      <p:sp>
        <p:nvSpPr>
          <p:cNvPr id="1048578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046" y="100412"/>
            <a:ext cx="548640" cy="548640"/>
          </a:xfrm>
          <a:prstGeom prst="rect">
            <a:avLst/>
          </a:prstGeom>
        </p:spPr>
      </p:pic>
      <p:sp>
        <p:nvSpPr>
          <p:cNvPr id="1048579" name="Text 3"/>
          <p:cNvSpPr/>
          <p:nvPr/>
        </p:nvSpPr>
        <p:spPr>
          <a:xfrm>
            <a:off x="987552" y="22842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— JURY PRESENTATION</a:t>
            </a:r>
            <a:endParaRPr lang="en-US" sz="850" dirty="0"/>
          </a:p>
        </p:txBody>
      </p:sp>
      <p:sp>
        <p:nvSpPr>
          <p:cNvPr id="1048580" name="Text 4"/>
          <p:cNvSpPr/>
          <p:nvPr/>
        </p:nvSpPr>
        <p:spPr>
          <a:xfrm>
            <a:off x="335853" y="644480"/>
            <a:ext cx="8229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WIGMS</a:t>
            </a:r>
            <a:endParaRPr lang="en-US" sz="8000" dirty="0"/>
          </a:p>
        </p:txBody>
      </p:sp>
      <p:sp>
        <p:nvSpPr>
          <p:cNvPr id="1048581" name="Text 5"/>
          <p:cNvSpPr/>
          <p:nvPr/>
        </p:nvSpPr>
        <p:spPr>
          <a:xfrm>
            <a:off x="84290" y="1842344"/>
            <a:ext cx="448771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D4849A"/>
                </a:solidFill>
                <a:latin typeface="Algerian" panose="04020705040A02060702" pitchFamily="82" charset="0"/>
                <a:ea typeface="Calibri Light" pitchFamily="34" charset="-122"/>
                <a:cs typeface="Calibri Light" pitchFamily="34" charset="-120"/>
              </a:rPr>
              <a:t>Wedding Invitation &amp; Guest Management System</a:t>
            </a:r>
            <a:endParaRPr lang="en-US" sz="1900" dirty="0">
              <a:latin typeface="Algerian" panose="04020705040A02060702" pitchFamily="82" charset="0"/>
            </a:endParaRPr>
          </a:p>
        </p:txBody>
      </p:sp>
      <p:sp>
        <p:nvSpPr>
          <p:cNvPr id="1048582" name="Shape 6"/>
          <p:cNvSpPr/>
          <p:nvPr/>
        </p:nvSpPr>
        <p:spPr>
          <a:xfrm>
            <a:off x="731520" y="2569464"/>
            <a:ext cx="3200400" cy="4114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209715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218688"/>
            <a:ext cx="274320" cy="274320"/>
          </a:xfrm>
          <a:prstGeom prst="rect">
            <a:avLst/>
          </a:prstGeom>
        </p:spPr>
      </p:pic>
      <p:sp>
        <p:nvSpPr>
          <p:cNvPr id="1048583" name="Text 7"/>
          <p:cNvSpPr/>
          <p:nvPr/>
        </p:nvSpPr>
        <p:spPr>
          <a:xfrm>
            <a:off x="822960" y="321868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 Language + GTK</a:t>
            </a:r>
            <a:endParaRPr lang="en-US" sz="1200" dirty="0"/>
          </a:p>
        </p:txBody>
      </p:sp>
      <p:pic>
        <p:nvPicPr>
          <p:cNvPr id="209715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694176"/>
            <a:ext cx="274320" cy="274320"/>
          </a:xfrm>
          <a:prstGeom prst="rect">
            <a:avLst/>
          </a:prstGeom>
        </p:spPr>
      </p:pic>
      <p:sp>
        <p:nvSpPr>
          <p:cNvPr id="1048584" name="Text 8"/>
          <p:cNvSpPr/>
          <p:nvPr/>
        </p:nvSpPr>
        <p:spPr>
          <a:xfrm>
            <a:off x="822960" y="3694176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 Desktop Application</a:t>
            </a:r>
            <a:endParaRPr lang="en-US" sz="1200" dirty="0"/>
          </a:p>
        </p:txBody>
      </p:sp>
      <p:pic>
        <p:nvPicPr>
          <p:cNvPr id="209715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4169664"/>
            <a:ext cx="274320" cy="274320"/>
          </a:xfrm>
          <a:prstGeom prst="rect">
            <a:avLst/>
          </a:prstGeom>
        </p:spPr>
      </p:pic>
      <p:sp>
        <p:nvSpPr>
          <p:cNvPr id="1048585" name="Text 9"/>
          <p:cNvSpPr/>
          <p:nvPr/>
        </p:nvSpPr>
        <p:spPr>
          <a:xfrm>
            <a:off x="822960" y="4169664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 Software Engineering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48591" name="Text 1"/>
          <p:cNvSpPr/>
          <p:nvPr/>
        </p:nvSpPr>
        <p:spPr>
          <a:xfrm>
            <a:off x="8321040" y="164592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D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048592" name="Text 2"/>
          <p:cNvSpPr/>
          <p:nvPr/>
        </p:nvSpPr>
        <p:spPr>
          <a:xfrm>
            <a:off x="411480" y="18288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1048593" name="Shape 3"/>
          <p:cNvSpPr/>
          <p:nvPr/>
        </p:nvSpPr>
        <p:spPr>
          <a:xfrm>
            <a:off x="320040" y="91440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594" name="Shape 4"/>
          <p:cNvSpPr/>
          <p:nvPr/>
        </p:nvSpPr>
        <p:spPr>
          <a:xfrm>
            <a:off x="320040" y="914400"/>
            <a:ext cx="3977640" cy="347472"/>
          </a:xfrm>
          <a:prstGeom prst="rect">
            <a:avLst/>
          </a:prstGeom>
          <a:solidFill>
            <a:srgbClr val="B0392B"/>
          </a:solidFill>
          <a:ln w="12700">
            <a:solidFill>
              <a:srgbClr val="B0392B"/>
            </a:solidFill>
            <a:prstDash val="solid"/>
          </a:ln>
        </p:spPr>
      </p:sp>
      <p:sp>
        <p:nvSpPr>
          <p:cNvPr id="1048595" name="Text 5"/>
          <p:cNvSpPr/>
          <p:nvPr/>
        </p:nvSpPr>
        <p:spPr>
          <a:xfrm>
            <a:off x="411480" y="914400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WIGMS</a:t>
            </a:r>
            <a:endParaRPr lang="en-US" sz="1200" dirty="0"/>
          </a:p>
        </p:txBody>
      </p:sp>
      <p:sp>
        <p:nvSpPr>
          <p:cNvPr id="1048596" name="Text 6"/>
          <p:cNvSpPr/>
          <p:nvPr/>
        </p:nvSpPr>
        <p:spPr>
          <a:xfrm>
            <a:off x="502920" y="137160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Guest information scattered everywhere</a:t>
            </a:r>
            <a:endParaRPr lang="en-US" sz="1150" dirty="0"/>
          </a:p>
        </p:txBody>
      </p:sp>
      <p:sp>
        <p:nvSpPr>
          <p:cNvPr id="1048597" name="Text 7"/>
          <p:cNvSpPr/>
          <p:nvPr/>
        </p:nvSpPr>
        <p:spPr>
          <a:xfrm>
            <a:off x="502920" y="18745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Seating plan confusing and manual</a:t>
            </a:r>
            <a:endParaRPr lang="en-US" sz="1150" dirty="0"/>
          </a:p>
        </p:txBody>
      </p:sp>
      <p:sp>
        <p:nvSpPr>
          <p:cNvPr id="1048598" name="Text 8"/>
          <p:cNvSpPr/>
          <p:nvPr/>
        </p:nvSpPr>
        <p:spPr>
          <a:xfrm>
            <a:off x="502920" y="237744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Gifts forgotten or poorly recorded</a:t>
            </a:r>
            <a:endParaRPr lang="en-US" sz="1150" dirty="0"/>
          </a:p>
        </p:txBody>
      </p:sp>
      <p:sp>
        <p:nvSpPr>
          <p:cNvPr id="1048599" name="Text 9"/>
          <p:cNvSpPr/>
          <p:nvPr/>
        </p:nvSpPr>
        <p:spPr>
          <a:xfrm>
            <a:off x="502920" y="28803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Parking disorganized</a:t>
            </a:r>
            <a:endParaRPr lang="en-US" sz="1150" dirty="0"/>
          </a:p>
        </p:txBody>
      </p:sp>
      <p:sp>
        <p:nvSpPr>
          <p:cNvPr id="1048600" name="Text 10"/>
          <p:cNvSpPr/>
          <p:nvPr/>
        </p:nvSpPr>
        <p:spPr>
          <a:xfrm>
            <a:off x="502920" y="338328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Event schedule hard to follow</a:t>
            </a:r>
            <a:endParaRPr lang="en-US" sz="1150" dirty="0"/>
          </a:p>
        </p:txBody>
      </p:sp>
      <p:sp>
        <p:nvSpPr>
          <p:cNvPr id="1048601" name="Text 11"/>
          <p:cNvSpPr/>
          <p:nvPr/>
        </p:nvSpPr>
        <p:spPr>
          <a:xfrm>
            <a:off x="502920" y="388620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Frequent errors and wasted time</a:t>
            </a:r>
            <a:endParaRPr lang="en-US" sz="1150" dirty="0"/>
          </a:p>
        </p:txBody>
      </p:sp>
      <p:sp>
        <p:nvSpPr>
          <p:cNvPr id="1048602" name="Shape 12"/>
          <p:cNvSpPr/>
          <p:nvPr/>
        </p:nvSpPr>
        <p:spPr>
          <a:xfrm>
            <a:off x="4572000" y="914400"/>
            <a:ext cx="4251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03" name="Shape 13"/>
          <p:cNvSpPr/>
          <p:nvPr/>
        </p:nvSpPr>
        <p:spPr>
          <a:xfrm>
            <a:off x="4572000" y="914400"/>
            <a:ext cx="4251960" cy="34747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48604" name="Text 14"/>
          <p:cNvSpPr/>
          <p:nvPr/>
        </p:nvSpPr>
        <p:spPr>
          <a:xfrm>
            <a:off x="4663440" y="91440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WIGMS</a:t>
            </a:r>
            <a:endParaRPr lang="en-US" sz="1200" dirty="0"/>
          </a:p>
        </p:txBody>
      </p:sp>
      <p:sp>
        <p:nvSpPr>
          <p:cNvPr id="1048605" name="Text 15"/>
          <p:cNvSpPr/>
          <p:nvPr/>
        </p:nvSpPr>
        <p:spPr>
          <a:xfrm>
            <a:off x="4709160" y="1371600"/>
            <a:ext cx="3977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Centralized guest database</a:t>
            </a:r>
            <a:endParaRPr lang="en-US" sz="1150" dirty="0"/>
          </a:p>
        </p:txBody>
      </p:sp>
      <p:sp>
        <p:nvSpPr>
          <p:cNvPr id="1048606" name="Text 16"/>
          <p:cNvSpPr/>
          <p:nvPr/>
        </p:nvSpPr>
        <p:spPr>
          <a:xfrm>
            <a:off x="4709160" y="1874520"/>
            <a:ext cx="3977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Automatic table assignment</a:t>
            </a:r>
            <a:endParaRPr lang="en-US" sz="1150" dirty="0"/>
          </a:p>
        </p:txBody>
      </p:sp>
      <p:sp>
        <p:nvSpPr>
          <p:cNvPr id="1048607" name="Text 17"/>
          <p:cNvSpPr/>
          <p:nvPr/>
        </p:nvSpPr>
        <p:spPr>
          <a:xfrm>
            <a:off x="4709160" y="2377440"/>
            <a:ext cx="3977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Full gift tracking + thank-you notes</a:t>
            </a:r>
            <a:endParaRPr lang="en-US" sz="1150" dirty="0"/>
          </a:p>
        </p:txBody>
      </p:sp>
      <p:sp>
        <p:nvSpPr>
          <p:cNvPr id="1048608" name="Text 18"/>
          <p:cNvSpPr/>
          <p:nvPr/>
        </p:nvSpPr>
        <p:spPr>
          <a:xfrm>
            <a:off x="4709160" y="2880360"/>
            <a:ext cx="3977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Parking space management</a:t>
            </a:r>
            <a:endParaRPr lang="en-US" sz="1150" dirty="0"/>
          </a:p>
        </p:txBody>
      </p:sp>
      <p:sp>
        <p:nvSpPr>
          <p:cNvPr id="1048609" name="Text 19"/>
          <p:cNvSpPr/>
          <p:nvPr/>
        </p:nvSpPr>
        <p:spPr>
          <a:xfrm>
            <a:off x="4709160" y="3383280"/>
            <a:ext cx="3977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Integrated event schedule</a:t>
            </a:r>
            <a:endParaRPr lang="en-US" sz="1150" dirty="0"/>
          </a:p>
        </p:txBody>
      </p:sp>
      <p:sp>
        <p:nvSpPr>
          <p:cNvPr id="1048610" name="Text 20"/>
          <p:cNvSpPr/>
          <p:nvPr/>
        </p:nvSpPr>
        <p:spPr>
          <a:xfrm>
            <a:off x="4709160" y="3886200"/>
            <a:ext cx="3977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User-friendly interface, zero errors</a:t>
            </a:r>
            <a:endParaRPr lang="en-US" sz="1150" dirty="0"/>
          </a:p>
        </p:txBody>
      </p:sp>
      <p:pic>
        <p:nvPicPr>
          <p:cNvPr id="209715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2286000"/>
            <a:ext cx="420624" cy="420624"/>
          </a:xfrm>
          <a:prstGeom prst="rect">
            <a:avLst/>
          </a:prstGeom>
        </p:spPr>
      </p:pic>
      <p:sp>
        <p:nvSpPr>
          <p:cNvPr id="1048611" name="Shape 21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48612" name="Text 22"/>
          <p:cNvSpPr/>
          <p:nvPr/>
        </p:nvSpPr>
        <p:spPr>
          <a:xfrm>
            <a:off x="320040" y="462686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Analysis</a:t>
            </a:r>
            <a:endParaRPr lang="en-US" sz="950" dirty="0"/>
          </a:p>
        </p:txBody>
      </p:sp>
      <p:sp>
        <p:nvSpPr>
          <p:cNvPr id="1048613" name="Text 23"/>
          <p:cNvSpPr/>
          <p:nvPr/>
        </p:nvSpPr>
        <p:spPr>
          <a:xfrm>
            <a:off x="1673352" y="4626864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048614" name="Text 24"/>
          <p:cNvSpPr/>
          <p:nvPr/>
        </p:nvSpPr>
        <p:spPr>
          <a:xfrm>
            <a:off x="1737360" y="462686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</a:t>
            </a:r>
            <a:endParaRPr lang="en-US" sz="950" dirty="0"/>
          </a:p>
        </p:txBody>
      </p:sp>
      <p:sp>
        <p:nvSpPr>
          <p:cNvPr id="1048615" name="Text 25"/>
          <p:cNvSpPr/>
          <p:nvPr/>
        </p:nvSpPr>
        <p:spPr>
          <a:xfrm>
            <a:off x="3090672" y="4626864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048616" name="Text 26"/>
          <p:cNvSpPr/>
          <p:nvPr/>
        </p:nvSpPr>
        <p:spPr>
          <a:xfrm>
            <a:off x="3154680" y="462686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Coding</a:t>
            </a:r>
            <a:endParaRPr lang="en-US" sz="950" dirty="0"/>
          </a:p>
        </p:txBody>
      </p:sp>
      <p:sp>
        <p:nvSpPr>
          <p:cNvPr id="1048617" name="Text 27"/>
          <p:cNvSpPr/>
          <p:nvPr/>
        </p:nvSpPr>
        <p:spPr>
          <a:xfrm>
            <a:off x="4507992" y="4626864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048618" name="Text 28"/>
          <p:cNvSpPr/>
          <p:nvPr/>
        </p:nvSpPr>
        <p:spPr>
          <a:xfrm>
            <a:off x="4572000" y="462686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Testing</a:t>
            </a:r>
            <a:endParaRPr lang="en-US" sz="950" dirty="0"/>
          </a:p>
        </p:txBody>
      </p:sp>
      <p:sp>
        <p:nvSpPr>
          <p:cNvPr id="1048619" name="Text 29"/>
          <p:cNvSpPr/>
          <p:nvPr/>
        </p:nvSpPr>
        <p:spPr>
          <a:xfrm>
            <a:off x="5925312" y="4626864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048620" name="Text 30"/>
          <p:cNvSpPr/>
          <p:nvPr/>
        </p:nvSpPr>
        <p:spPr>
          <a:xfrm>
            <a:off x="5989320" y="462686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Documentation</a:t>
            </a:r>
            <a:endParaRPr lang="en-US" sz="950" dirty="0"/>
          </a:p>
        </p:txBody>
      </p:sp>
      <p:sp>
        <p:nvSpPr>
          <p:cNvPr id="1048621" name="Text 31"/>
          <p:cNvSpPr/>
          <p:nvPr/>
        </p:nvSpPr>
        <p:spPr>
          <a:xfrm>
            <a:off x="7342632" y="4626864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300" dirty="0"/>
          </a:p>
        </p:txBody>
      </p:sp>
      <p:sp>
        <p:nvSpPr>
          <p:cNvPr id="1048622" name="Text 32"/>
          <p:cNvSpPr/>
          <p:nvPr/>
        </p:nvSpPr>
        <p:spPr>
          <a:xfrm>
            <a:off x="7406640" y="462686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Shape 0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7B3F6E">
              <a:alpha val="17000"/>
            </a:srgbClr>
          </a:solidFill>
          <a:ln w="12700">
            <a:solidFill>
              <a:srgbClr val="7B3F6E">
                <a:alpha val="17000"/>
              </a:srgbClr>
            </a:solidFill>
            <a:prstDash val="solid"/>
          </a:ln>
        </p:spPr>
      </p:sp>
      <p:sp>
        <p:nvSpPr>
          <p:cNvPr id="1048627" name="Text 1"/>
          <p:cNvSpPr/>
          <p:nvPr/>
        </p:nvSpPr>
        <p:spPr>
          <a:xfrm>
            <a:off x="8321040" y="164592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048628" name="Text 2"/>
          <p:cNvSpPr/>
          <p:nvPr/>
        </p:nvSpPr>
        <p:spPr>
          <a:xfrm>
            <a:off x="411480" y="201168"/>
            <a:ext cx="6858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Modules</a:t>
            </a:r>
            <a:endParaRPr lang="en-US" sz="2800" dirty="0"/>
          </a:p>
        </p:txBody>
      </p:sp>
      <p:sp>
        <p:nvSpPr>
          <p:cNvPr id="1048629" name="Text 3"/>
          <p:cNvSpPr/>
          <p:nvPr/>
        </p:nvSpPr>
        <p:spPr>
          <a:xfrm>
            <a:off x="411480" y="804672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4849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independent modules — each with its own dedicated .c / .h files</a:t>
            </a:r>
            <a:endParaRPr lang="en-US" sz="1150" dirty="0"/>
          </a:p>
        </p:txBody>
      </p:sp>
      <p:sp>
        <p:nvSpPr>
          <p:cNvPr id="1048630" name="Shape 4"/>
          <p:cNvSpPr/>
          <p:nvPr/>
        </p:nvSpPr>
        <p:spPr>
          <a:xfrm>
            <a:off x="292608" y="12344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31" name="Shape 5"/>
          <p:cNvSpPr/>
          <p:nvPr/>
        </p:nvSpPr>
        <p:spPr>
          <a:xfrm>
            <a:off x="292608" y="1234440"/>
            <a:ext cx="64008" cy="7498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48632" name="Shape 6"/>
          <p:cNvSpPr/>
          <p:nvPr/>
        </p:nvSpPr>
        <p:spPr>
          <a:xfrm>
            <a:off x="448056" y="13807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5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426464"/>
            <a:ext cx="365760" cy="365760"/>
          </a:xfrm>
          <a:prstGeom prst="rect">
            <a:avLst/>
          </a:prstGeom>
        </p:spPr>
      </p:pic>
      <p:sp>
        <p:nvSpPr>
          <p:cNvPr id="1048633" name="Text 7"/>
          <p:cNvSpPr/>
          <p:nvPr/>
        </p:nvSpPr>
        <p:spPr>
          <a:xfrm>
            <a:off x="1024128" y="12984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00" dirty="0"/>
          </a:p>
        </p:txBody>
      </p:sp>
      <p:sp>
        <p:nvSpPr>
          <p:cNvPr id="1048634" name="Text 8"/>
          <p:cNvSpPr/>
          <p:nvPr/>
        </p:nvSpPr>
        <p:spPr>
          <a:xfrm>
            <a:off x="1024128" y="1536192"/>
            <a:ext cx="3355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person.c / person.h</a:t>
            </a:r>
            <a:endParaRPr lang="en-US" sz="950" dirty="0"/>
          </a:p>
        </p:txBody>
      </p:sp>
      <p:sp>
        <p:nvSpPr>
          <p:cNvPr id="1048635" name="Text 9"/>
          <p:cNvSpPr/>
          <p:nvPr/>
        </p:nvSpPr>
        <p:spPr>
          <a:xfrm>
            <a:off x="1024128" y="1719072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Name, phone, address, email, RSVP — full CRUD</a:t>
            </a:r>
            <a:endParaRPr lang="en-US" sz="950" dirty="0"/>
          </a:p>
        </p:txBody>
      </p:sp>
      <p:sp>
        <p:nvSpPr>
          <p:cNvPr id="1048636" name="Shape 10"/>
          <p:cNvSpPr/>
          <p:nvPr/>
        </p:nvSpPr>
        <p:spPr>
          <a:xfrm>
            <a:off x="4709160" y="12344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37" name="Shape 11"/>
          <p:cNvSpPr/>
          <p:nvPr/>
        </p:nvSpPr>
        <p:spPr>
          <a:xfrm>
            <a:off x="4709160" y="1234440"/>
            <a:ext cx="64008" cy="749808"/>
          </a:xfrm>
          <a:prstGeom prst="rect">
            <a:avLst/>
          </a:prstGeom>
          <a:solidFill>
            <a:srgbClr val="D4849A"/>
          </a:solidFill>
          <a:ln w="12700">
            <a:solidFill>
              <a:srgbClr val="D4849A"/>
            </a:solidFill>
            <a:prstDash val="solid"/>
          </a:ln>
        </p:spPr>
      </p:sp>
      <p:sp>
        <p:nvSpPr>
          <p:cNvPr id="1048638" name="Shape 12"/>
          <p:cNvSpPr/>
          <p:nvPr/>
        </p:nvSpPr>
        <p:spPr>
          <a:xfrm>
            <a:off x="4864608" y="13807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5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426464"/>
            <a:ext cx="365760" cy="365760"/>
          </a:xfrm>
          <a:prstGeom prst="rect">
            <a:avLst/>
          </a:prstGeom>
        </p:spPr>
      </p:pic>
      <p:sp>
        <p:nvSpPr>
          <p:cNvPr id="1048639" name="Text 13"/>
          <p:cNvSpPr/>
          <p:nvPr/>
        </p:nvSpPr>
        <p:spPr>
          <a:xfrm>
            <a:off x="5440680" y="12984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048640" name="Text 14"/>
          <p:cNvSpPr/>
          <p:nvPr/>
        </p:nvSpPr>
        <p:spPr>
          <a:xfrm>
            <a:off x="5440680" y="1536192"/>
            <a:ext cx="3355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category.c / category.h</a:t>
            </a:r>
            <a:endParaRPr lang="en-US" sz="950" dirty="0"/>
          </a:p>
        </p:txBody>
      </p:sp>
      <p:sp>
        <p:nvSpPr>
          <p:cNvPr id="1048641" name="Text 15"/>
          <p:cNvSpPr/>
          <p:nvPr/>
        </p:nvSpPr>
        <p:spPr>
          <a:xfrm>
            <a:off x="5440680" y="1719072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Family, Friends, Colleagues, VIP — guest classification</a:t>
            </a:r>
            <a:endParaRPr lang="en-US" sz="950" dirty="0"/>
          </a:p>
        </p:txBody>
      </p:sp>
      <p:sp>
        <p:nvSpPr>
          <p:cNvPr id="1048642" name="Shape 16"/>
          <p:cNvSpPr/>
          <p:nvPr/>
        </p:nvSpPr>
        <p:spPr>
          <a:xfrm>
            <a:off x="292608" y="21488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43" name="Shape 17"/>
          <p:cNvSpPr/>
          <p:nvPr/>
        </p:nvSpPr>
        <p:spPr>
          <a:xfrm>
            <a:off x="292608" y="2148840"/>
            <a:ext cx="64008" cy="749808"/>
          </a:xfrm>
          <a:prstGeom prst="rect">
            <a:avLst/>
          </a:prstGeom>
          <a:solidFill>
            <a:srgbClr val="7EC8B0"/>
          </a:solidFill>
          <a:ln w="12700">
            <a:solidFill>
              <a:srgbClr val="7EC8B0"/>
            </a:solidFill>
            <a:prstDash val="solid"/>
          </a:ln>
        </p:spPr>
      </p:sp>
      <p:sp>
        <p:nvSpPr>
          <p:cNvPr id="1048644" name="Shape 18"/>
          <p:cNvSpPr/>
          <p:nvPr/>
        </p:nvSpPr>
        <p:spPr>
          <a:xfrm>
            <a:off x="448056" y="22951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5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2340864"/>
            <a:ext cx="365760" cy="365760"/>
          </a:xfrm>
          <a:prstGeom prst="rect">
            <a:avLst/>
          </a:prstGeom>
        </p:spPr>
      </p:pic>
      <p:sp>
        <p:nvSpPr>
          <p:cNvPr id="1048645" name="Text 19"/>
          <p:cNvSpPr/>
          <p:nvPr/>
        </p:nvSpPr>
        <p:spPr>
          <a:xfrm>
            <a:off x="1024128" y="22128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</a:t>
            </a:r>
            <a:endParaRPr lang="en-US" sz="1200" dirty="0"/>
          </a:p>
        </p:txBody>
      </p:sp>
      <p:sp>
        <p:nvSpPr>
          <p:cNvPr id="1048646" name="Text 20"/>
          <p:cNvSpPr/>
          <p:nvPr/>
        </p:nvSpPr>
        <p:spPr>
          <a:xfrm>
            <a:off x="1024128" y="2450592"/>
            <a:ext cx="3355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gift.c / gift.h</a:t>
            </a:r>
            <a:endParaRPr lang="en-US" sz="950" dirty="0"/>
          </a:p>
        </p:txBody>
      </p:sp>
      <p:sp>
        <p:nvSpPr>
          <p:cNvPr id="1048647" name="Text 21"/>
          <p:cNvSpPr/>
          <p:nvPr/>
        </p:nvSpPr>
        <p:spPr>
          <a:xfrm>
            <a:off x="1024128" y="2633472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Gift, value, linked guest — tracking &amp; thank-you notes</a:t>
            </a:r>
            <a:endParaRPr lang="en-US" sz="950" dirty="0"/>
          </a:p>
        </p:txBody>
      </p:sp>
      <p:sp>
        <p:nvSpPr>
          <p:cNvPr id="1048648" name="Shape 22"/>
          <p:cNvSpPr/>
          <p:nvPr/>
        </p:nvSpPr>
        <p:spPr>
          <a:xfrm>
            <a:off x="4709160" y="21488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49" name="Shape 23"/>
          <p:cNvSpPr/>
          <p:nvPr/>
        </p:nvSpPr>
        <p:spPr>
          <a:xfrm>
            <a:off x="4709160" y="2148840"/>
            <a:ext cx="64008" cy="7498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48650" name="Shape 24"/>
          <p:cNvSpPr/>
          <p:nvPr/>
        </p:nvSpPr>
        <p:spPr>
          <a:xfrm>
            <a:off x="4864608" y="22951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6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340864"/>
            <a:ext cx="365760" cy="365760"/>
          </a:xfrm>
          <a:prstGeom prst="rect">
            <a:avLst/>
          </a:prstGeom>
        </p:spPr>
      </p:pic>
      <p:sp>
        <p:nvSpPr>
          <p:cNvPr id="1048651" name="Text 25"/>
          <p:cNvSpPr/>
          <p:nvPr/>
        </p:nvSpPr>
        <p:spPr>
          <a:xfrm>
            <a:off x="5440680" y="22128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</a:t>
            </a:r>
            <a:endParaRPr lang="en-US" sz="1200" dirty="0"/>
          </a:p>
        </p:txBody>
      </p:sp>
      <p:sp>
        <p:nvSpPr>
          <p:cNvPr id="1048652" name="Text 26"/>
          <p:cNvSpPr/>
          <p:nvPr/>
        </p:nvSpPr>
        <p:spPr>
          <a:xfrm>
            <a:off x="5440680" y="2450592"/>
            <a:ext cx="3355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seating.c / seating.h</a:t>
            </a:r>
            <a:endParaRPr lang="en-US" sz="950" dirty="0"/>
          </a:p>
        </p:txBody>
      </p:sp>
      <p:sp>
        <p:nvSpPr>
          <p:cNvPr id="1048653" name="Text 27"/>
          <p:cNvSpPr/>
          <p:nvPr/>
        </p:nvSpPr>
        <p:spPr>
          <a:xfrm>
            <a:off x="5440680" y="2633472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Table number, seat number — organized placement</a:t>
            </a:r>
            <a:endParaRPr lang="en-US" sz="950" dirty="0"/>
          </a:p>
        </p:txBody>
      </p:sp>
      <p:sp>
        <p:nvSpPr>
          <p:cNvPr id="1048654" name="Shape 28"/>
          <p:cNvSpPr/>
          <p:nvPr/>
        </p:nvSpPr>
        <p:spPr>
          <a:xfrm>
            <a:off x="292608" y="30632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55" name="Shape 29"/>
          <p:cNvSpPr/>
          <p:nvPr/>
        </p:nvSpPr>
        <p:spPr>
          <a:xfrm>
            <a:off x="292608" y="3063240"/>
            <a:ext cx="64008" cy="749808"/>
          </a:xfrm>
          <a:prstGeom prst="rect">
            <a:avLst/>
          </a:prstGeom>
          <a:solidFill>
            <a:srgbClr val="D4849A"/>
          </a:solidFill>
          <a:ln w="12700">
            <a:solidFill>
              <a:srgbClr val="D4849A"/>
            </a:solidFill>
            <a:prstDash val="solid"/>
          </a:ln>
        </p:spPr>
      </p:sp>
      <p:sp>
        <p:nvSpPr>
          <p:cNvPr id="1048656" name="Shape 30"/>
          <p:cNvSpPr/>
          <p:nvPr/>
        </p:nvSpPr>
        <p:spPr>
          <a:xfrm>
            <a:off x="448056" y="32095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6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3255264"/>
            <a:ext cx="365760" cy="365760"/>
          </a:xfrm>
          <a:prstGeom prst="rect">
            <a:avLst/>
          </a:prstGeom>
        </p:spPr>
      </p:pic>
      <p:sp>
        <p:nvSpPr>
          <p:cNvPr id="1048657" name="Text 31"/>
          <p:cNvSpPr/>
          <p:nvPr/>
        </p:nvSpPr>
        <p:spPr>
          <a:xfrm>
            <a:off x="1024128" y="31272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200" dirty="0"/>
          </a:p>
        </p:txBody>
      </p:sp>
      <p:sp>
        <p:nvSpPr>
          <p:cNvPr id="1048658" name="Text 32"/>
          <p:cNvSpPr/>
          <p:nvPr/>
        </p:nvSpPr>
        <p:spPr>
          <a:xfrm>
            <a:off x="1024128" y="3364992"/>
            <a:ext cx="3355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parking.c / parking.h</a:t>
            </a:r>
            <a:endParaRPr lang="en-US" sz="950" dirty="0"/>
          </a:p>
        </p:txBody>
      </p:sp>
      <p:sp>
        <p:nvSpPr>
          <p:cNvPr id="1048659" name="Text 33"/>
          <p:cNvSpPr/>
          <p:nvPr/>
        </p:nvSpPr>
        <p:spPr>
          <a:xfrm>
            <a:off x="1024128" y="3547872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Vehicle details, allocated spot — parking management</a:t>
            </a:r>
            <a:endParaRPr lang="en-US" sz="950" dirty="0"/>
          </a:p>
        </p:txBody>
      </p:sp>
      <p:sp>
        <p:nvSpPr>
          <p:cNvPr id="1048660" name="Shape 34"/>
          <p:cNvSpPr/>
          <p:nvPr/>
        </p:nvSpPr>
        <p:spPr>
          <a:xfrm>
            <a:off x="4709160" y="30632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61" name="Shape 35"/>
          <p:cNvSpPr/>
          <p:nvPr/>
        </p:nvSpPr>
        <p:spPr>
          <a:xfrm>
            <a:off x="4709160" y="3063240"/>
            <a:ext cx="64008" cy="749808"/>
          </a:xfrm>
          <a:prstGeom prst="rect">
            <a:avLst/>
          </a:prstGeom>
          <a:solidFill>
            <a:srgbClr val="7EC8B0"/>
          </a:solidFill>
          <a:ln w="12700">
            <a:solidFill>
              <a:srgbClr val="7EC8B0"/>
            </a:solidFill>
            <a:prstDash val="solid"/>
          </a:ln>
        </p:spPr>
      </p:sp>
      <p:sp>
        <p:nvSpPr>
          <p:cNvPr id="1048662" name="Shape 36"/>
          <p:cNvSpPr/>
          <p:nvPr/>
        </p:nvSpPr>
        <p:spPr>
          <a:xfrm>
            <a:off x="4864608" y="32095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6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255264"/>
            <a:ext cx="365760" cy="365760"/>
          </a:xfrm>
          <a:prstGeom prst="rect">
            <a:avLst/>
          </a:prstGeom>
        </p:spPr>
      </p:pic>
      <p:sp>
        <p:nvSpPr>
          <p:cNvPr id="1048663" name="Text 37"/>
          <p:cNvSpPr/>
          <p:nvPr/>
        </p:nvSpPr>
        <p:spPr>
          <a:xfrm>
            <a:off x="5440680" y="31272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048664" name="Text 38"/>
          <p:cNvSpPr/>
          <p:nvPr/>
        </p:nvSpPr>
        <p:spPr>
          <a:xfrm>
            <a:off x="5440680" y="3364992"/>
            <a:ext cx="3355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schedule.c / schedule.h</a:t>
            </a:r>
            <a:endParaRPr lang="en-US" sz="950" dirty="0"/>
          </a:p>
        </p:txBody>
      </p:sp>
      <p:sp>
        <p:nvSpPr>
          <p:cNvPr id="1048665" name="Text 39"/>
          <p:cNvSpPr/>
          <p:nvPr/>
        </p:nvSpPr>
        <p:spPr>
          <a:xfrm>
            <a:off x="5440680" y="3547872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Arrival, ceremony, dinner, cake cutting, dancing</a:t>
            </a:r>
            <a:endParaRPr lang="en-US" sz="950" dirty="0"/>
          </a:p>
        </p:txBody>
      </p:sp>
      <p:sp>
        <p:nvSpPr>
          <p:cNvPr id="1048666" name="Shape 40"/>
          <p:cNvSpPr/>
          <p:nvPr/>
        </p:nvSpPr>
        <p:spPr>
          <a:xfrm>
            <a:off x="292608" y="39776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67" name="Shape 41"/>
          <p:cNvSpPr/>
          <p:nvPr/>
        </p:nvSpPr>
        <p:spPr>
          <a:xfrm>
            <a:off x="292608" y="3977640"/>
            <a:ext cx="64008" cy="7498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48668" name="Shape 42"/>
          <p:cNvSpPr/>
          <p:nvPr/>
        </p:nvSpPr>
        <p:spPr>
          <a:xfrm>
            <a:off x="448056" y="41239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6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" y="4169664"/>
            <a:ext cx="365760" cy="365760"/>
          </a:xfrm>
          <a:prstGeom prst="rect">
            <a:avLst/>
          </a:prstGeom>
        </p:spPr>
      </p:pic>
      <p:sp>
        <p:nvSpPr>
          <p:cNvPr id="1048669" name="Text 43"/>
          <p:cNvSpPr/>
          <p:nvPr/>
        </p:nvSpPr>
        <p:spPr>
          <a:xfrm>
            <a:off x="1024128" y="40416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</p:txBody>
      </p:sp>
      <p:sp>
        <p:nvSpPr>
          <p:cNvPr id="1048670" name="Text 44"/>
          <p:cNvSpPr/>
          <p:nvPr/>
        </p:nvSpPr>
        <p:spPr>
          <a:xfrm>
            <a:off x="1024128" y="4279392"/>
            <a:ext cx="3355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priority.c / priority.h</a:t>
            </a:r>
            <a:endParaRPr lang="en-US" sz="950" dirty="0"/>
          </a:p>
        </p:txBody>
      </p:sp>
      <p:sp>
        <p:nvSpPr>
          <p:cNvPr id="1048671" name="Text 45"/>
          <p:cNvSpPr/>
          <p:nvPr/>
        </p:nvSpPr>
        <p:spPr>
          <a:xfrm>
            <a:off x="1024128" y="4462272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VIP, close family, special guests — priority levels</a:t>
            </a:r>
            <a:endParaRPr lang="en-US" sz="950" dirty="0"/>
          </a:p>
        </p:txBody>
      </p:sp>
      <p:sp>
        <p:nvSpPr>
          <p:cNvPr id="1048672" name="Shape 46"/>
          <p:cNvSpPr/>
          <p:nvPr/>
        </p:nvSpPr>
        <p:spPr>
          <a:xfrm>
            <a:off x="4709160" y="3977640"/>
            <a:ext cx="4160520" cy="74980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73" name="Shape 47"/>
          <p:cNvSpPr/>
          <p:nvPr/>
        </p:nvSpPr>
        <p:spPr>
          <a:xfrm>
            <a:off x="4709160" y="3977640"/>
            <a:ext cx="64008" cy="749808"/>
          </a:xfrm>
          <a:prstGeom prst="rect">
            <a:avLst/>
          </a:prstGeom>
          <a:solidFill>
            <a:srgbClr val="D4849A"/>
          </a:solidFill>
          <a:ln w="12700">
            <a:solidFill>
              <a:srgbClr val="D4849A"/>
            </a:solidFill>
            <a:prstDash val="solid"/>
          </a:ln>
        </p:spPr>
      </p:sp>
      <p:sp>
        <p:nvSpPr>
          <p:cNvPr id="1048674" name="Shape 48"/>
          <p:cNvSpPr/>
          <p:nvPr/>
        </p:nvSpPr>
        <p:spPr>
          <a:xfrm>
            <a:off x="4864608" y="4123944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6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328" y="4169664"/>
            <a:ext cx="365760" cy="365760"/>
          </a:xfrm>
          <a:prstGeom prst="rect">
            <a:avLst/>
          </a:prstGeom>
        </p:spPr>
      </p:pic>
      <p:sp>
        <p:nvSpPr>
          <p:cNvPr id="1048675" name="Text 49"/>
          <p:cNvSpPr/>
          <p:nvPr/>
        </p:nvSpPr>
        <p:spPr>
          <a:xfrm>
            <a:off x="5440680" y="4041648"/>
            <a:ext cx="33558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GTK</a:t>
            </a:r>
            <a:endParaRPr lang="en-US" sz="1200" dirty="0"/>
          </a:p>
        </p:txBody>
      </p:sp>
      <p:sp>
        <p:nvSpPr>
          <p:cNvPr id="1048676" name="Text 50"/>
          <p:cNvSpPr/>
          <p:nvPr/>
        </p:nvSpPr>
        <p:spPr>
          <a:xfrm>
            <a:off x="5440680" y="4279392"/>
            <a:ext cx="3355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ui_gtk.c / ui_gtk.h</a:t>
            </a:r>
            <a:endParaRPr lang="en-US" sz="950" dirty="0"/>
          </a:p>
        </p:txBody>
      </p:sp>
      <p:sp>
        <p:nvSpPr>
          <p:cNvPr id="1048677" name="Text 51"/>
          <p:cNvSpPr/>
          <p:nvPr/>
        </p:nvSpPr>
        <p:spPr>
          <a:xfrm>
            <a:off x="5440680" y="4462272"/>
            <a:ext cx="33558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Forms, buttons, tables, navigation — GTK interface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sp>
        <p:nvSpPr>
          <p:cNvPr id="1048682" name="Text 1"/>
          <p:cNvSpPr/>
          <p:nvPr/>
        </p:nvSpPr>
        <p:spPr>
          <a:xfrm>
            <a:off x="8321040" y="164592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DF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1048683" name="Text 2"/>
          <p:cNvSpPr/>
          <p:nvPr/>
        </p:nvSpPr>
        <p:spPr>
          <a:xfrm>
            <a:off x="236669" y="42762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Georgia" pitchFamily="34" charset="0"/>
              </a:rPr>
              <a:t>CLI Output</a:t>
            </a:r>
            <a:endParaRPr lang="en-US" sz="2700" dirty="0"/>
          </a:p>
        </p:txBody>
      </p:sp>
      <p:sp>
        <p:nvSpPr>
          <p:cNvPr id="1048684" name="Text 3"/>
          <p:cNvSpPr/>
          <p:nvPr/>
        </p:nvSpPr>
        <p:spPr>
          <a:xfrm>
            <a:off x="320040" y="82296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048685" name="Shape 4"/>
          <p:cNvSpPr/>
          <p:nvPr/>
        </p:nvSpPr>
        <p:spPr>
          <a:xfrm>
            <a:off x="320040" y="1170432"/>
            <a:ext cx="3976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86" name="Shape 5"/>
          <p:cNvSpPr/>
          <p:nvPr/>
        </p:nvSpPr>
        <p:spPr>
          <a:xfrm>
            <a:off x="320040" y="1170432"/>
            <a:ext cx="54864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48687" name="Shape 6"/>
          <p:cNvSpPr/>
          <p:nvPr/>
        </p:nvSpPr>
        <p:spPr>
          <a:xfrm>
            <a:off x="438912" y="125272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09716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307592"/>
            <a:ext cx="347472" cy="347472"/>
          </a:xfrm>
          <a:prstGeom prst="rect">
            <a:avLst/>
          </a:prstGeom>
        </p:spPr>
      </p:pic>
      <p:sp>
        <p:nvSpPr>
          <p:cNvPr id="1048688" name="Text 7"/>
          <p:cNvSpPr/>
          <p:nvPr/>
        </p:nvSpPr>
        <p:spPr>
          <a:xfrm>
            <a:off x="1005840" y="122529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</a:t>
            </a:r>
            <a:endParaRPr lang="en-US" sz="1100" dirty="0"/>
          </a:p>
        </p:txBody>
      </p:sp>
      <p:sp>
        <p:nvSpPr>
          <p:cNvPr id="1048689" name="Text 8"/>
          <p:cNvSpPr/>
          <p:nvPr/>
        </p:nvSpPr>
        <p:spPr>
          <a:xfrm>
            <a:off x="1005840" y="1490472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System programming, structures, pointers, memory management</a:t>
            </a:r>
            <a:endParaRPr lang="en-US" sz="950" dirty="0"/>
          </a:p>
        </p:txBody>
      </p:sp>
      <p:sp>
        <p:nvSpPr>
          <p:cNvPr id="1048690" name="Shape 9"/>
          <p:cNvSpPr/>
          <p:nvPr/>
        </p:nvSpPr>
        <p:spPr>
          <a:xfrm>
            <a:off x="320040" y="1892808"/>
            <a:ext cx="3976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91" name="Shape 10"/>
          <p:cNvSpPr/>
          <p:nvPr/>
        </p:nvSpPr>
        <p:spPr>
          <a:xfrm>
            <a:off x="320040" y="1892808"/>
            <a:ext cx="54864" cy="621792"/>
          </a:xfrm>
          <a:prstGeom prst="rect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sp>
        <p:nvSpPr>
          <p:cNvPr id="1048692" name="Shape 11"/>
          <p:cNvSpPr/>
          <p:nvPr/>
        </p:nvSpPr>
        <p:spPr>
          <a:xfrm>
            <a:off x="438912" y="1975104"/>
            <a:ext cx="457200" cy="457200"/>
          </a:xfrm>
          <a:prstGeom prst="ellipse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pic>
        <p:nvPicPr>
          <p:cNvPr id="209716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2029968"/>
            <a:ext cx="347472" cy="347472"/>
          </a:xfrm>
          <a:prstGeom prst="rect">
            <a:avLst/>
          </a:prstGeom>
        </p:spPr>
      </p:pic>
      <p:sp>
        <p:nvSpPr>
          <p:cNvPr id="1048693" name="Text 12"/>
          <p:cNvSpPr/>
          <p:nvPr/>
        </p:nvSpPr>
        <p:spPr>
          <a:xfrm>
            <a:off x="1005840" y="194767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 (GUI)</a:t>
            </a:r>
            <a:endParaRPr lang="en-US" sz="1100" dirty="0"/>
          </a:p>
        </p:txBody>
      </p:sp>
      <p:sp>
        <p:nvSpPr>
          <p:cNvPr id="1048694" name="Text 13"/>
          <p:cNvSpPr/>
          <p:nvPr/>
        </p:nvSpPr>
        <p:spPr>
          <a:xfrm>
            <a:off x="1005840" y="2212848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Windows, forms, buttons, tables, events</a:t>
            </a:r>
            <a:endParaRPr lang="en-US" sz="950" dirty="0"/>
          </a:p>
        </p:txBody>
      </p:sp>
      <p:sp>
        <p:nvSpPr>
          <p:cNvPr id="1048695" name="Shape 14"/>
          <p:cNvSpPr/>
          <p:nvPr/>
        </p:nvSpPr>
        <p:spPr>
          <a:xfrm>
            <a:off x="320040" y="2615184"/>
            <a:ext cx="3976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696" name="Shape 15"/>
          <p:cNvSpPr/>
          <p:nvPr/>
        </p:nvSpPr>
        <p:spPr>
          <a:xfrm>
            <a:off x="320040" y="2615184"/>
            <a:ext cx="54864" cy="621792"/>
          </a:xfrm>
          <a:prstGeom prst="rect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48697" name="Shape 16"/>
          <p:cNvSpPr/>
          <p:nvPr/>
        </p:nvSpPr>
        <p:spPr>
          <a:xfrm>
            <a:off x="438912" y="269748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09716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2752344"/>
            <a:ext cx="347472" cy="347472"/>
          </a:xfrm>
          <a:prstGeom prst="rect">
            <a:avLst/>
          </a:prstGeom>
        </p:spPr>
      </p:pic>
      <p:sp>
        <p:nvSpPr>
          <p:cNvPr id="1048698" name="Text 17"/>
          <p:cNvSpPr/>
          <p:nvPr/>
        </p:nvSpPr>
        <p:spPr>
          <a:xfrm>
            <a:off x="1005840" y="267004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 / .csv Files</a:t>
            </a:r>
            <a:endParaRPr lang="en-US" sz="1100" dirty="0"/>
          </a:p>
        </p:txBody>
      </p:sp>
      <p:sp>
        <p:nvSpPr>
          <p:cNvPr id="1048699" name="Text 18"/>
          <p:cNvSpPr/>
          <p:nvPr/>
        </p:nvSpPr>
        <p:spPr>
          <a:xfrm>
            <a:off x="1005840" y="293522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persistence: guests_access.csv + *.dat</a:t>
            </a:r>
            <a:endParaRPr lang="en-US" sz="950" dirty="0"/>
          </a:p>
        </p:txBody>
      </p:sp>
      <p:sp>
        <p:nvSpPr>
          <p:cNvPr id="1048700" name="Shape 19"/>
          <p:cNvSpPr/>
          <p:nvPr/>
        </p:nvSpPr>
        <p:spPr>
          <a:xfrm>
            <a:off x="320040" y="3337560"/>
            <a:ext cx="3976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01" name="Shape 20"/>
          <p:cNvSpPr/>
          <p:nvPr/>
        </p:nvSpPr>
        <p:spPr>
          <a:xfrm>
            <a:off x="320040" y="3337560"/>
            <a:ext cx="54864" cy="621792"/>
          </a:xfrm>
          <a:prstGeom prst="rect">
            <a:avLst/>
          </a:prstGeom>
          <a:solidFill>
            <a:srgbClr val="B0392B"/>
          </a:solidFill>
          <a:ln w="12700">
            <a:solidFill>
              <a:srgbClr val="B0392B"/>
            </a:solidFill>
            <a:prstDash val="solid"/>
          </a:ln>
        </p:spPr>
      </p:sp>
      <p:sp>
        <p:nvSpPr>
          <p:cNvPr id="1048702" name="Shape 21"/>
          <p:cNvSpPr/>
          <p:nvPr/>
        </p:nvSpPr>
        <p:spPr>
          <a:xfrm>
            <a:off x="438912" y="3419856"/>
            <a:ext cx="457200" cy="457200"/>
          </a:xfrm>
          <a:prstGeom prst="ellipse">
            <a:avLst/>
          </a:prstGeom>
          <a:solidFill>
            <a:srgbClr val="B0392B"/>
          </a:solidFill>
          <a:ln w="12700">
            <a:solidFill>
              <a:srgbClr val="B0392B"/>
            </a:solidFill>
            <a:prstDash val="solid"/>
          </a:ln>
        </p:spPr>
      </p:sp>
      <p:pic>
        <p:nvPicPr>
          <p:cNvPr id="209716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474720"/>
            <a:ext cx="347472" cy="347472"/>
          </a:xfrm>
          <a:prstGeom prst="rect">
            <a:avLst/>
          </a:prstGeom>
        </p:spPr>
      </p:pic>
      <p:sp>
        <p:nvSpPr>
          <p:cNvPr id="1048703" name="Text 22"/>
          <p:cNvSpPr/>
          <p:nvPr/>
        </p:nvSpPr>
        <p:spPr>
          <a:xfrm>
            <a:off x="1005840" y="339242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100" dirty="0"/>
          </a:p>
        </p:txBody>
      </p:sp>
      <p:sp>
        <p:nvSpPr>
          <p:cNvPr id="1048704" name="Text 23"/>
          <p:cNvSpPr/>
          <p:nvPr/>
        </p:nvSpPr>
        <p:spPr>
          <a:xfrm>
            <a:off x="1005840" y="3657600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site: index, person, gift, parking, schedule pages</a:t>
            </a:r>
            <a:endParaRPr lang="en-US" sz="950" dirty="0"/>
          </a:p>
        </p:txBody>
      </p:sp>
      <p:sp>
        <p:nvSpPr>
          <p:cNvPr id="1048705" name="Shape 24"/>
          <p:cNvSpPr/>
          <p:nvPr/>
        </p:nvSpPr>
        <p:spPr>
          <a:xfrm>
            <a:off x="320040" y="4059936"/>
            <a:ext cx="39762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06" name="Shape 25"/>
          <p:cNvSpPr/>
          <p:nvPr/>
        </p:nvSpPr>
        <p:spPr>
          <a:xfrm>
            <a:off x="320040" y="4059936"/>
            <a:ext cx="54864" cy="6217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48707" name="Shape 26"/>
          <p:cNvSpPr/>
          <p:nvPr/>
        </p:nvSpPr>
        <p:spPr>
          <a:xfrm>
            <a:off x="438912" y="4142232"/>
            <a:ext cx="457200" cy="45720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209716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4197096"/>
            <a:ext cx="347472" cy="347472"/>
          </a:xfrm>
          <a:prstGeom prst="rect">
            <a:avLst/>
          </a:prstGeom>
        </p:spPr>
      </p:pic>
      <p:sp>
        <p:nvSpPr>
          <p:cNvPr id="1048708" name="Text 27"/>
          <p:cNvSpPr/>
          <p:nvPr/>
        </p:nvSpPr>
        <p:spPr>
          <a:xfrm>
            <a:off x="1005840" y="411480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</a:t>
            </a:r>
            <a:endParaRPr lang="en-US" sz="1100" dirty="0"/>
          </a:p>
        </p:txBody>
      </p:sp>
      <p:sp>
        <p:nvSpPr>
          <p:cNvPr id="1048709" name="Text 28"/>
          <p:cNvSpPr/>
          <p:nvPr/>
        </p:nvSpPr>
        <p:spPr>
          <a:xfrm>
            <a:off x="1005840" y="4379976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 compilation — generates wigms.exe</a:t>
            </a:r>
            <a:endParaRPr lang="en-US" sz="950" dirty="0"/>
          </a:p>
        </p:txBody>
      </p:sp>
      <p:sp>
        <p:nvSpPr>
          <p:cNvPr id="1048710" name="Text 29"/>
          <p:cNvSpPr/>
          <p:nvPr/>
        </p:nvSpPr>
        <p:spPr>
          <a:xfrm>
            <a:off x="4754880" y="82296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B3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200" dirty="0"/>
          </a:p>
        </p:txBody>
      </p:sp>
      <p:sp>
        <p:nvSpPr>
          <p:cNvPr id="1048711" name="Shape 30"/>
          <p:cNvSpPr/>
          <p:nvPr/>
        </p:nvSpPr>
        <p:spPr>
          <a:xfrm>
            <a:off x="4754880" y="1170432"/>
            <a:ext cx="4069080" cy="3749040"/>
          </a:xfrm>
          <a:prstGeom prst="rect">
            <a:avLst/>
          </a:prstGeom>
          <a:solidFill>
            <a:srgbClr val="1B2A4A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048712" name="Text 31"/>
          <p:cNvSpPr/>
          <p:nvPr/>
        </p:nvSpPr>
        <p:spPr>
          <a:xfrm>
            <a:off x="4919472" y="1243584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WIGMS/</a:t>
            </a:r>
            <a:endParaRPr lang="en-US" sz="1100" dirty="0"/>
          </a:p>
        </p:txBody>
      </p:sp>
      <p:sp>
        <p:nvSpPr>
          <p:cNvPr id="1048713" name="Text 32"/>
          <p:cNvSpPr/>
          <p:nvPr/>
        </p:nvSpPr>
        <p:spPr>
          <a:xfrm>
            <a:off x="5175504" y="1485900"/>
            <a:ext cx="3493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8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src/</a:t>
            </a:r>
            <a:endParaRPr lang="en-US" sz="1050" dirty="0"/>
          </a:p>
        </p:txBody>
      </p:sp>
      <p:sp>
        <p:nvSpPr>
          <p:cNvPr id="1048714" name="Text 33"/>
          <p:cNvSpPr/>
          <p:nvPr/>
        </p:nvSpPr>
        <p:spPr>
          <a:xfrm>
            <a:off x="5431536" y="1728216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person.c  category.c  gift.c</a:t>
            </a:r>
            <a:endParaRPr lang="en-US" sz="950" dirty="0"/>
          </a:p>
        </p:txBody>
      </p:sp>
      <p:sp>
        <p:nvSpPr>
          <p:cNvPr id="1048715" name="Text 34"/>
          <p:cNvSpPr/>
          <p:nvPr/>
        </p:nvSpPr>
        <p:spPr>
          <a:xfrm>
            <a:off x="5431536" y="1970532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seating.c  parking.c  schedule.c</a:t>
            </a:r>
            <a:endParaRPr lang="en-US" sz="950" dirty="0"/>
          </a:p>
        </p:txBody>
      </p:sp>
      <p:sp>
        <p:nvSpPr>
          <p:cNvPr id="1048716" name="Text 35"/>
          <p:cNvSpPr/>
          <p:nvPr/>
        </p:nvSpPr>
        <p:spPr>
          <a:xfrm>
            <a:off x="5431536" y="2212848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priority.c  ui_gtk.c</a:t>
            </a:r>
            <a:endParaRPr lang="en-US" sz="950" dirty="0"/>
          </a:p>
        </p:txBody>
      </p:sp>
      <p:sp>
        <p:nvSpPr>
          <p:cNvPr id="1048717" name="Text 36"/>
          <p:cNvSpPr/>
          <p:nvPr/>
        </p:nvSpPr>
        <p:spPr>
          <a:xfrm>
            <a:off x="5175504" y="2455164"/>
            <a:ext cx="3493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8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include/</a:t>
            </a:r>
            <a:endParaRPr lang="en-US" sz="1050" dirty="0"/>
          </a:p>
        </p:txBody>
      </p:sp>
      <p:sp>
        <p:nvSpPr>
          <p:cNvPr id="1048718" name="Text 37"/>
          <p:cNvSpPr/>
          <p:nvPr/>
        </p:nvSpPr>
        <p:spPr>
          <a:xfrm>
            <a:off x="5431536" y="2697480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*.h  (one header per module)</a:t>
            </a:r>
            <a:endParaRPr lang="en-US" sz="950" dirty="0"/>
          </a:p>
        </p:txBody>
      </p:sp>
      <p:sp>
        <p:nvSpPr>
          <p:cNvPr id="1048719" name="Text 38"/>
          <p:cNvSpPr/>
          <p:nvPr/>
        </p:nvSpPr>
        <p:spPr>
          <a:xfrm>
            <a:off x="5175504" y="2939796"/>
            <a:ext cx="3493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8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data/</a:t>
            </a:r>
            <a:endParaRPr lang="en-US" sz="1050" dirty="0"/>
          </a:p>
        </p:txBody>
      </p:sp>
      <p:sp>
        <p:nvSpPr>
          <p:cNvPr id="1048720" name="Text 39"/>
          <p:cNvSpPr/>
          <p:nvPr/>
        </p:nvSpPr>
        <p:spPr>
          <a:xfrm>
            <a:off x="5431536" y="3182112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C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guests_access.csv  *.dat</a:t>
            </a:r>
            <a:endParaRPr lang="en-US" sz="950" dirty="0"/>
          </a:p>
        </p:txBody>
      </p:sp>
      <p:sp>
        <p:nvSpPr>
          <p:cNvPr id="1048721" name="Text 40"/>
          <p:cNvSpPr/>
          <p:nvPr/>
        </p:nvSpPr>
        <p:spPr>
          <a:xfrm>
            <a:off x="5175504" y="3424428"/>
            <a:ext cx="3493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8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web/</a:t>
            </a:r>
            <a:endParaRPr lang="en-US" sz="1050" dirty="0"/>
          </a:p>
        </p:txBody>
      </p:sp>
      <p:sp>
        <p:nvSpPr>
          <p:cNvPr id="1048722" name="Text 41"/>
          <p:cNvSpPr/>
          <p:nvPr/>
        </p:nvSpPr>
        <p:spPr>
          <a:xfrm>
            <a:off x="5431536" y="3666744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 person.html  gift.html…</a:t>
            </a:r>
            <a:endParaRPr lang="en-US" sz="950" dirty="0"/>
          </a:p>
        </p:txBody>
      </p:sp>
      <p:sp>
        <p:nvSpPr>
          <p:cNvPr id="1048723" name="Text 42"/>
          <p:cNvSpPr/>
          <p:nvPr/>
        </p:nvSpPr>
        <p:spPr>
          <a:xfrm>
            <a:off x="5175504" y="3909060"/>
            <a:ext cx="3493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8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📂 Report/</a:t>
            </a:r>
            <a:endParaRPr lang="en-US" sz="1050" dirty="0"/>
          </a:p>
        </p:txBody>
      </p:sp>
      <p:sp>
        <p:nvSpPr>
          <p:cNvPr id="1048724" name="Text 43"/>
          <p:cNvSpPr/>
          <p:nvPr/>
        </p:nvSpPr>
        <p:spPr>
          <a:xfrm>
            <a:off x="5431536" y="4151376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2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report .docx + .pdf</a:t>
            </a:r>
            <a:endParaRPr lang="en-US" sz="950" dirty="0"/>
          </a:p>
        </p:txBody>
      </p:sp>
      <p:sp>
        <p:nvSpPr>
          <p:cNvPr id="1048725" name="Text 44"/>
          <p:cNvSpPr/>
          <p:nvPr/>
        </p:nvSpPr>
        <p:spPr>
          <a:xfrm>
            <a:off x="5175504" y="4393692"/>
            <a:ext cx="3493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Makefile   +   ▶️ wigms.exe</a:t>
            </a:r>
            <a:endParaRPr lang="en-US" sz="105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0D353DB-656F-FA49-3113-669143F1D1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0343" y="91440"/>
            <a:ext cx="4783657" cy="48280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4B681F6-17CF-73D0-41C1-0819526AAD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77" y="608076"/>
            <a:ext cx="4255758" cy="43113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7B3F6E">
              <a:alpha val="18000"/>
            </a:srgbClr>
          </a:solidFill>
          <a:ln w="12700">
            <a:solidFill>
              <a:srgbClr val="7B3F6E">
                <a:alpha val="18000"/>
              </a:srgbClr>
            </a:solidFill>
            <a:prstDash val="solid"/>
          </a:ln>
        </p:spPr>
      </p:sp>
      <p:sp>
        <p:nvSpPr>
          <p:cNvPr id="1048730" name="Text 1"/>
          <p:cNvSpPr/>
          <p:nvPr/>
        </p:nvSpPr>
        <p:spPr>
          <a:xfrm>
            <a:off x="8202437" y="25012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1048731" name="Text 2"/>
          <p:cNvSpPr/>
          <p:nvPr/>
        </p:nvSpPr>
        <p:spPr>
          <a:xfrm>
            <a:off x="430037" y="25012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Documentation</a:t>
            </a:r>
            <a:endParaRPr lang="en-US" sz="2800" dirty="0"/>
          </a:p>
        </p:txBody>
      </p:sp>
      <p:sp>
        <p:nvSpPr>
          <p:cNvPr id="1048733" name="Shape 4"/>
          <p:cNvSpPr/>
          <p:nvPr/>
        </p:nvSpPr>
        <p:spPr>
          <a:xfrm>
            <a:off x="274320" y="559398"/>
            <a:ext cx="4160520" cy="208321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34" name="Shape 5"/>
          <p:cNvSpPr/>
          <p:nvPr/>
        </p:nvSpPr>
        <p:spPr>
          <a:xfrm>
            <a:off x="274320" y="571231"/>
            <a:ext cx="4160520" cy="347472"/>
          </a:xfrm>
          <a:prstGeom prst="rect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pic>
        <p:nvPicPr>
          <p:cNvPr id="209717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61" y="607807"/>
            <a:ext cx="274320" cy="274320"/>
          </a:xfrm>
          <a:prstGeom prst="rect">
            <a:avLst/>
          </a:prstGeom>
        </p:spPr>
      </p:pic>
      <p:sp>
        <p:nvSpPr>
          <p:cNvPr id="1048735" name="Text 6"/>
          <p:cNvSpPr/>
          <p:nvPr/>
        </p:nvSpPr>
        <p:spPr>
          <a:xfrm>
            <a:off x="809513" y="584947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300" dirty="0"/>
          </a:p>
        </p:txBody>
      </p:sp>
      <p:sp>
        <p:nvSpPr>
          <p:cNvPr id="1048736" name="Shape 7"/>
          <p:cNvSpPr/>
          <p:nvPr/>
        </p:nvSpPr>
        <p:spPr>
          <a:xfrm>
            <a:off x="430037" y="984326"/>
            <a:ext cx="45719" cy="51529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209717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81" y="1035154"/>
            <a:ext cx="320040" cy="320040"/>
          </a:xfrm>
          <a:prstGeom prst="rect">
            <a:avLst/>
          </a:prstGeom>
        </p:spPr>
      </p:pic>
      <p:sp>
        <p:nvSpPr>
          <p:cNvPr id="1048737" name="Text 8"/>
          <p:cNvSpPr/>
          <p:nvPr/>
        </p:nvSpPr>
        <p:spPr>
          <a:xfrm>
            <a:off x="978408" y="984326"/>
            <a:ext cx="3364992" cy="23182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100" dirty="0"/>
          </a:p>
        </p:txBody>
      </p:sp>
      <p:sp>
        <p:nvSpPr>
          <p:cNvPr id="1048738" name="Text 9"/>
          <p:cNvSpPr/>
          <p:nvPr/>
        </p:nvSpPr>
        <p:spPr>
          <a:xfrm>
            <a:off x="978408" y="1174735"/>
            <a:ext cx="3364992" cy="37060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User interactions with the system — 7 use cases identified: manage guests, RSVP, gifts, seating, parking, schedule, priorities</a:t>
            </a:r>
            <a:endParaRPr lang="en-US" sz="900" dirty="0"/>
          </a:p>
        </p:txBody>
      </p:sp>
      <p:sp>
        <p:nvSpPr>
          <p:cNvPr id="1048739" name="Shape 10"/>
          <p:cNvSpPr/>
          <p:nvPr/>
        </p:nvSpPr>
        <p:spPr>
          <a:xfrm>
            <a:off x="430037" y="1565239"/>
            <a:ext cx="64008" cy="483017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209717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81" y="1533502"/>
            <a:ext cx="320040" cy="320040"/>
          </a:xfrm>
          <a:prstGeom prst="rect">
            <a:avLst/>
          </a:prstGeom>
        </p:spPr>
      </p:pic>
      <p:sp>
        <p:nvSpPr>
          <p:cNvPr id="1048740" name="Text 11"/>
          <p:cNvSpPr/>
          <p:nvPr/>
        </p:nvSpPr>
        <p:spPr>
          <a:xfrm>
            <a:off x="978408" y="1545336"/>
            <a:ext cx="33649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1100" dirty="0"/>
          </a:p>
        </p:txBody>
      </p:sp>
      <p:sp>
        <p:nvSpPr>
          <p:cNvPr id="1048741" name="Text 12"/>
          <p:cNvSpPr/>
          <p:nvPr/>
        </p:nvSpPr>
        <p:spPr>
          <a:xfrm>
            <a:off x="978408" y="1735745"/>
            <a:ext cx="3364992" cy="3125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classes: Person, Category, Gift, Seating, Parking, Schedule, Priority, UI — with attributes, methods and associations</a:t>
            </a:r>
            <a:endParaRPr lang="en-US" sz="900" dirty="0"/>
          </a:p>
        </p:txBody>
      </p:sp>
      <p:sp>
        <p:nvSpPr>
          <p:cNvPr id="1048742" name="Shape 13"/>
          <p:cNvSpPr/>
          <p:nvPr/>
        </p:nvSpPr>
        <p:spPr>
          <a:xfrm>
            <a:off x="430037" y="2135393"/>
            <a:ext cx="64008" cy="488935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209717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481" y="2199132"/>
            <a:ext cx="320040" cy="320040"/>
          </a:xfrm>
          <a:prstGeom prst="rect">
            <a:avLst/>
          </a:prstGeom>
        </p:spPr>
      </p:pic>
      <p:sp>
        <p:nvSpPr>
          <p:cNvPr id="1048743" name="Text 14"/>
          <p:cNvSpPr/>
          <p:nvPr/>
        </p:nvSpPr>
        <p:spPr>
          <a:xfrm>
            <a:off x="978408" y="2135394"/>
            <a:ext cx="3364992" cy="2097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100" dirty="0"/>
          </a:p>
        </p:txBody>
      </p:sp>
      <p:sp>
        <p:nvSpPr>
          <p:cNvPr id="1048744" name="Text 15"/>
          <p:cNvSpPr/>
          <p:nvPr/>
        </p:nvSpPr>
        <p:spPr>
          <a:xfrm>
            <a:off x="978408" y="2331452"/>
            <a:ext cx="33649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Interaction flow: User → GTK UI → business module → data file — for each CRUD operation</a:t>
            </a:r>
            <a:endParaRPr lang="en-US" sz="900" dirty="0"/>
          </a:p>
        </p:txBody>
      </p:sp>
      <p:sp>
        <p:nvSpPr>
          <p:cNvPr id="1048745" name="Shape 16"/>
          <p:cNvSpPr/>
          <p:nvPr/>
        </p:nvSpPr>
        <p:spPr>
          <a:xfrm>
            <a:off x="274320" y="2720072"/>
            <a:ext cx="4160520" cy="2423428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46" name="Shape 17"/>
          <p:cNvSpPr/>
          <p:nvPr/>
        </p:nvSpPr>
        <p:spPr>
          <a:xfrm>
            <a:off x="274320" y="2729216"/>
            <a:ext cx="4160520" cy="34747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pic>
        <p:nvPicPr>
          <p:cNvPr id="209717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2759067"/>
            <a:ext cx="274320" cy="274320"/>
          </a:xfrm>
          <a:prstGeom prst="rect">
            <a:avLst/>
          </a:prstGeom>
        </p:spPr>
      </p:pic>
      <p:sp>
        <p:nvSpPr>
          <p:cNvPr id="1048747" name="Text 18"/>
          <p:cNvSpPr/>
          <p:nvPr/>
        </p:nvSpPr>
        <p:spPr>
          <a:xfrm>
            <a:off x="873521" y="2752344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&amp; Reports</a:t>
            </a:r>
            <a:endParaRPr lang="en-US" sz="1300" dirty="0"/>
          </a:p>
        </p:txBody>
      </p:sp>
      <p:sp>
        <p:nvSpPr>
          <p:cNvPr id="1048748" name="Text 19"/>
          <p:cNvSpPr/>
          <p:nvPr/>
        </p:nvSpPr>
        <p:spPr>
          <a:xfrm>
            <a:off x="4800600" y="166420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Gantt Chart</a:t>
            </a:r>
            <a:endParaRPr lang="en-US" sz="1050" dirty="0"/>
          </a:p>
        </p:txBody>
      </p:sp>
      <p:sp>
        <p:nvSpPr>
          <p:cNvPr id="1048749" name="Shape 20"/>
          <p:cNvSpPr/>
          <p:nvPr/>
        </p:nvSpPr>
        <p:spPr>
          <a:xfrm>
            <a:off x="4828032" y="1965960"/>
            <a:ext cx="790042" cy="237744"/>
          </a:xfrm>
          <a:prstGeom prst="rect">
            <a:avLst/>
          </a:prstGeom>
          <a:solidFill>
            <a:srgbClr val="D4849A"/>
          </a:solidFill>
          <a:ln w="12700">
            <a:solidFill>
              <a:srgbClr val="D4849A"/>
            </a:solidFill>
            <a:prstDash val="solid"/>
          </a:ln>
        </p:spPr>
      </p:sp>
      <p:sp>
        <p:nvSpPr>
          <p:cNvPr id="1048750" name="Text 21"/>
          <p:cNvSpPr/>
          <p:nvPr/>
        </p:nvSpPr>
        <p:spPr>
          <a:xfrm>
            <a:off x="5682082" y="1965960"/>
            <a:ext cx="332475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Analysis</a:t>
            </a:r>
            <a:endParaRPr lang="en-US" sz="900" dirty="0"/>
          </a:p>
        </p:txBody>
      </p:sp>
      <p:sp>
        <p:nvSpPr>
          <p:cNvPr id="1048751" name="Shape 22"/>
          <p:cNvSpPr/>
          <p:nvPr/>
        </p:nvSpPr>
        <p:spPr>
          <a:xfrm>
            <a:off x="4828032" y="2295144"/>
            <a:ext cx="987552" cy="23774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48752" name="Text 23"/>
          <p:cNvSpPr/>
          <p:nvPr/>
        </p:nvSpPr>
        <p:spPr>
          <a:xfrm>
            <a:off x="5879592" y="2295144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Design</a:t>
            </a:r>
            <a:endParaRPr lang="en-US" sz="900" dirty="0"/>
          </a:p>
        </p:txBody>
      </p:sp>
      <p:sp>
        <p:nvSpPr>
          <p:cNvPr id="1048753" name="Shape 24"/>
          <p:cNvSpPr/>
          <p:nvPr/>
        </p:nvSpPr>
        <p:spPr>
          <a:xfrm>
            <a:off x="4828032" y="2624328"/>
            <a:ext cx="1448410" cy="237744"/>
          </a:xfrm>
          <a:prstGeom prst="rect">
            <a:avLst/>
          </a:prstGeom>
          <a:solidFill>
            <a:srgbClr val="7EC8B0"/>
          </a:solidFill>
          <a:ln w="12700">
            <a:solidFill>
              <a:srgbClr val="7EC8B0"/>
            </a:solidFill>
            <a:prstDash val="solid"/>
          </a:ln>
        </p:spPr>
      </p:sp>
      <p:sp>
        <p:nvSpPr>
          <p:cNvPr id="1048754" name="Text 25"/>
          <p:cNvSpPr/>
          <p:nvPr/>
        </p:nvSpPr>
        <p:spPr>
          <a:xfrm>
            <a:off x="6340450" y="2624328"/>
            <a:ext cx="266639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Coding</a:t>
            </a:r>
            <a:endParaRPr lang="en-US" sz="900" dirty="0"/>
          </a:p>
        </p:txBody>
      </p:sp>
      <p:sp>
        <p:nvSpPr>
          <p:cNvPr id="1048755" name="Shape 26"/>
          <p:cNvSpPr/>
          <p:nvPr/>
        </p:nvSpPr>
        <p:spPr>
          <a:xfrm>
            <a:off x="4828032" y="2953512"/>
            <a:ext cx="658368" cy="237744"/>
          </a:xfrm>
          <a:prstGeom prst="rect">
            <a:avLst/>
          </a:prstGeom>
          <a:solidFill>
            <a:srgbClr val="7B3F6E"/>
          </a:solidFill>
          <a:ln w="12700">
            <a:solidFill>
              <a:srgbClr val="7B3F6E"/>
            </a:solidFill>
            <a:prstDash val="solid"/>
          </a:ln>
        </p:spPr>
      </p:sp>
      <p:sp>
        <p:nvSpPr>
          <p:cNvPr id="1048756" name="Text 27"/>
          <p:cNvSpPr/>
          <p:nvPr/>
        </p:nvSpPr>
        <p:spPr>
          <a:xfrm>
            <a:off x="5550408" y="2953512"/>
            <a:ext cx="34564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Testing</a:t>
            </a:r>
            <a:endParaRPr lang="en-US" sz="900" dirty="0"/>
          </a:p>
        </p:txBody>
      </p:sp>
      <p:sp>
        <p:nvSpPr>
          <p:cNvPr id="1048757" name="Shape 28"/>
          <p:cNvSpPr/>
          <p:nvPr/>
        </p:nvSpPr>
        <p:spPr>
          <a:xfrm>
            <a:off x="4828032" y="3282696"/>
            <a:ext cx="1185062" cy="237744"/>
          </a:xfrm>
          <a:prstGeom prst="rect">
            <a:avLst/>
          </a:prstGeom>
          <a:solidFill>
            <a:srgbClr val="7A8299"/>
          </a:solidFill>
          <a:ln w="12700">
            <a:solidFill>
              <a:srgbClr val="7A8299"/>
            </a:solidFill>
            <a:prstDash val="solid"/>
          </a:ln>
        </p:spPr>
      </p:sp>
      <p:sp>
        <p:nvSpPr>
          <p:cNvPr id="1048758" name="Text 29"/>
          <p:cNvSpPr/>
          <p:nvPr/>
        </p:nvSpPr>
        <p:spPr>
          <a:xfrm>
            <a:off x="6077102" y="3282696"/>
            <a:ext cx="292973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Documentation</a:t>
            </a:r>
            <a:endParaRPr lang="en-US" sz="900" dirty="0"/>
          </a:p>
        </p:txBody>
      </p:sp>
      <p:sp>
        <p:nvSpPr>
          <p:cNvPr id="1048759" name="Text 30"/>
          <p:cNvSpPr/>
          <p:nvPr/>
        </p:nvSpPr>
        <p:spPr>
          <a:xfrm>
            <a:off x="4800600" y="365760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Included</a:t>
            </a:r>
            <a:endParaRPr lang="en-US" sz="1050" dirty="0"/>
          </a:p>
        </p:txBody>
      </p:sp>
      <p:pic>
        <p:nvPicPr>
          <p:cNvPr id="209717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950208"/>
            <a:ext cx="201168" cy="201168"/>
          </a:xfrm>
          <a:prstGeom prst="rect">
            <a:avLst/>
          </a:prstGeom>
        </p:spPr>
      </p:pic>
      <p:sp>
        <p:nvSpPr>
          <p:cNvPr id="1048760" name="Text 31"/>
          <p:cNvSpPr/>
          <p:nvPr/>
        </p:nvSpPr>
        <p:spPr>
          <a:xfrm>
            <a:off x="5120640" y="393192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project report (.docx + .pdf)</a:t>
            </a:r>
            <a:endParaRPr lang="en-US" sz="950" dirty="0"/>
          </a:p>
        </p:txBody>
      </p:sp>
      <p:pic>
        <p:nvPicPr>
          <p:cNvPr id="209717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4261104"/>
            <a:ext cx="201168" cy="201168"/>
          </a:xfrm>
          <a:prstGeom prst="rect">
            <a:avLst/>
          </a:prstGeom>
        </p:spPr>
      </p:pic>
      <p:sp>
        <p:nvSpPr>
          <p:cNvPr id="1048761" name="Text 32"/>
          <p:cNvSpPr/>
          <p:nvPr/>
        </p:nvSpPr>
        <p:spPr>
          <a:xfrm>
            <a:off x="5120640" y="4242816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 and deployment guide</a:t>
            </a:r>
            <a:endParaRPr lang="en-US" sz="950" dirty="0"/>
          </a:p>
        </p:txBody>
      </p:sp>
      <p:pic>
        <p:nvPicPr>
          <p:cNvPr id="209717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4572000"/>
            <a:ext cx="201168" cy="201168"/>
          </a:xfrm>
          <a:prstGeom prst="rect">
            <a:avLst/>
          </a:prstGeom>
        </p:spPr>
      </p:pic>
      <p:sp>
        <p:nvSpPr>
          <p:cNvPr id="1048762" name="Text 33"/>
          <p:cNvSpPr/>
          <p:nvPr/>
        </p:nvSpPr>
        <p:spPr>
          <a:xfrm>
            <a:off x="5120640" y="4553712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Detailed UML documentation</a:t>
            </a:r>
            <a:endParaRPr lang="en-US" sz="950" dirty="0"/>
          </a:p>
        </p:txBody>
      </p:sp>
      <p:pic>
        <p:nvPicPr>
          <p:cNvPr id="209717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4882896"/>
            <a:ext cx="201168" cy="201168"/>
          </a:xfrm>
          <a:prstGeom prst="rect">
            <a:avLst/>
          </a:prstGeom>
        </p:spPr>
      </p:pic>
      <p:sp>
        <p:nvSpPr>
          <p:cNvPr id="1048763" name="Text 34"/>
          <p:cNvSpPr/>
          <p:nvPr/>
        </p:nvSpPr>
        <p:spPr>
          <a:xfrm>
            <a:off x="5120640" y="4864608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Progress reports</a:t>
            </a:r>
            <a:endParaRPr lang="en-US" sz="95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42243E3-1207-2F36-E218-131056EDEEC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31"/>
          <a:stretch>
            <a:fillRect/>
          </a:stretch>
        </p:blipFill>
        <p:spPr>
          <a:xfrm>
            <a:off x="4590556" y="559398"/>
            <a:ext cx="4558317" cy="458410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995A860-F2A1-4F4D-E445-2BCFC06AB3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792" y="3085833"/>
            <a:ext cx="4152048" cy="20088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Shape 0"/>
          <p:cNvSpPr/>
          <p:nvPr/>
        </p:nvSpPr>
        <p:spPr>
          <a:xfrm>
            <a:off x="4907504" y="-704088"/>
            <a:ext cx="5029200" cy="5029200"/>
          </a:xfrm>
          <a:prstGeom prst="ellipse">
            <a:avLst/>
          </a:prstGeom>
          <a:solidFill>
            <a:srgbClr val="7B3F6E">
              <a:alpha val="14000"/>
            </a:srgbClr>
          </a:solidFill>
          <a:ln w="12700">
            <a:solidFill>
              <a:srgbClr val="7B3F6E">
                <a:alpha val="14000"/>
              </a:srgbClr>
            </a:solidFill>
            <a:prstDash val="solid"/>
          </a:ln>
        </p:spPr>
      </p:sp>
      <p:sp>
        <p:nvSpPr>
          <p:cNvPr id="1048768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12000"/>
              </a:srgbClr>
            </a:solidFill>
            <a:prstDash val="solid"/>
          </a:ln>
        </p:spPr>
      </p:sp>
      <p:sp>
        <p:nvSpPr>
          <p:cNvPr id="1048769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48770" name="Text 3"/>
          <p:cNvSpPr/>
          <p:nvPr/>
        </p:nvSpPr>
        <p:spPr>
          <a:xfrm>
            <a:off x="8321040" y="164592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>
                    <a:alpha val="7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pic>
        <p:nvPicPr>
          <p:cNvPr id="209717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74320"/>
            <a:ext cx="548640" cy="548640"/>
          </a:xfrm>
          <a:prstGeom prst="rect">
            <a:avLst/>
          </a:prstGeom>
        </p:spPr>
      </p:pic>
      <p:sp>
        <p:nvSpPr>
          <p:cNvPr id="1048771" name="Text 4"/>
          <p:cNvSpPr/>
          <p:nvPr/>
        </p:nvSpPr>
        <p:spPr>
          <a:xfrm>
            <a:off x="1051560" y="274320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Conclusion</a:t>
            </a:r>
            <a:endParaRPr lang="en-US" sz="2800" dirty="0"/>
          </a:p>
        </p:txBody>
      </p:sp>
      <p:sp>
        <p:nvSpPr>
          <p:cNvPr id="1048772" name="Shape 5"/>
          <p:cNvSpPr/>
          <p:nvPr/>
        </p:nvSpPr>
        <p:spPr>
          <a:xfrm>
            <a:off x="384048" y="1005840"/>
            <a:ext cx="953934" cy="1051560"/>
          </a:xfrm>
          <a:prstGeom prst="ellipse">
            <a:avLst/>
          </a:prstGeom>
          <a:solidFill>
            <a:srgbClr val="C9A96E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73" name="Text 6"/>
          <p:cNvSpPr/>
          <p:nvPr/>
        </p:nvSpPr>
        <p:spPr>
          <a:xfrm>
            <a:off x="323402" y="1200150"/>
            <a:ext cx="1051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1048774" name="Text 7"/>
          <p:cNvSpPr/>
          <p:nvPr/>
        </p:nvSpPr>
        <p:spPr>
          <a:xfrm>
            <a:off x="384048" y="1508760"/>
            <a:ext cx="95393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00" dirty="0"/>
          </a:p>
        </p:txBody>
      </p:sp>
      <p:sp>
        <p:nvSpPr>
          <p:cNvPr id="1048775" name="Shape 8"/>
          <p:cNvSpPr/>
          <p:nvPr/>
        </p:nvSpPr>
        <p:spPr>
          <a:xfrm>
            <a:off x="1393250" y="1014984"/>
            <a:ext cx="953934" cy="1051560"/>
          </a:xfrm>
          <a:prstGeom prst="ellipse">
            <a:avLst/>
          </a:prstGeom>
          <a:solidFill>
            <a:srgbClr val="7B3F6E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76" name="Text 9"/>
          <p:cNvSpPr/>
          <p:nvPr/>
        </p:nvSpPr>
        <p:spPr>
          <a:xfrm>
            <a:off x="1636776" y="1197864"/>
            <a:ext cx="4744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048777" name="Text 10"/>
          <p:cNvSpPr/>
          <p:nvPr/>
        </p:nvSpPr>
        <p:spPr>
          <a:xfrm>
            <a:off x="1548294" y="1508760"/>
            <a:ext cx="6492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800" dirty="0"/>
          </a:p>
        </p:txBody>
      </p:sp>
      <p:sp>
        <p:nvSpPr>
          <p:cNvPr id="1048778" name="Shape 11"/>
          <p:cNvSpPr/>
          <p:nvPr/>
        </p:nvSpPr>
        <p:spPr>
          <a:xfrm>
            <a:off x="2407830" y="1024128"/>
            <a:ext cx="953934" cy="1051560"/>
          </a:xfrm>
          <a:prstGeom prst="ellipse">
            <a:avLst/>
          </a:prstGeom>
          <a:solidFill>
            <a:srgbClr val="D4849A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79" name="Text 12"/>
          <p:cNvSpPr/>
          <p:nvPr/>
        </p:nvSpPr>
        <p:spPr>
          <a:xfrm>
            <a:off x="2611150" y="1225296"/>
            <a:ext cx="53479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048780" name="Text 13"/>
          <p:cNvSpPr/>
          <p:nvPr/>
        </p:nvSpPr>
        <p:spPr>
          <a:xfrm>
            <a:off x="2611150" y="1508760"/>
            <a:ext cx="53479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</a:t>
            </a:r>
            <a:endParaRPr lang="en-US" sz="800" dirty="0"/>
          </a:p>
        </p:txBody>
      </p:sp>
      <p:sp>
        <p:nvSpPr>
          <p:cNvPr id="1048781" name="Shape 14"/>
          <p:cNvSpPr/>
          <p:nvPr/>
        </p:nvSpPr>
        <p:spPr>
          <a:xfrm>
            <a:off x="3418916" y="1014984"/>
            <a:ext cx="953934" cy="1051560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48782" name="Text 15"/>
          <p:cNvSpPr/>
          <p:nvPr/>
        </p:nvSpPr>
        <p:spPr>
          <a:xfrm>
            <a:off x="3696192" y="1193292"/>
            <a:ext cx="45276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048783" name="Text 16"/>
          <p:cNvSpPr/>
          <p:nvPr/>
        </p:nvSpPr>
        <p:spPr>
          <a:xfrm>
            <a:off x="3396794" y="1499616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</a:t>
            </a:r>
            <a:endParaRPr lang="en-US" sz="800" dirty="0"/>
          </a:p>
        </p:txBody>
      </p:sp>
      <p:sp>
        <p:nvSpPr>
          <p:cNvPr id="1048784" name="Shape 17"/>
          <p:cNvSpPr/>
          <p:nvPr/>
        </p:nvSpPr>
        <p:spPr>
          <a:xfrm>
            <a:off x="347472" y="2212848"/>
            <a:ext cx="4863263" cy="438912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9718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304288"/>
            <a:ext cx="310896" cy="310896"/>
          </a:xfrm>
          <a:prstGeom prst="rect">
            <a:avLst/>
          </a:prstGeom>
        </p:spPr>
      </p:pic>
      <p:sp>
        <p:nvSpPr>
          <p:cNvPr id="1048785" name="Text 18"/>
          <p:cNvSpPr/>
          <p:nvPr/>
        </p:nvSpPr>
        <p:spPr>
          <a:xfrm>
            <a:off x="886968" y="2276856"/>
            <a:ext cx="424308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Fully functional desktop application, wigms.exe delivered and tested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86" name="Shape 19"/>
          <p:cNvSpPr/>
          <p:nvPr/>
        </p:nvSpPr>
        <p:spPr>
          <a:xfrm>
            <a:off x="347472" y="2724912"/>
            <a:ext cx="4863263" cy="438912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9718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816352"/>
            <a:ext cx="310896" cy="310896"/>
          </a:xfrm>
          <a:prstGeom prst="rect">
            <a:avLst/>
          </a:prstGeom>
        </p:spPr>
      </p:pic>
      <p:sp>
        <p:nvSpPr>
          <p:cNvPr id="1048787" name="Text 20"/>
          <p:cNvSpPr/>
          <p:nvPr/>
        </p:nvSpPr>
        <p:spPr>
          <a:xfrm>
            <a:off x="886968" y="27889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8 complete business modules with file persistence (.dat / .csv)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88" name="Shape 21"/>
          <p:cNvSpPr/>
          <p:nvPr/>
        </p:nvSpPr>
        <p:spPr>
          <a:xfrm>
            <a:off x="347472" y="3236976"/>
            <a:ext cx="4863263" cy="438912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9718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328416"/>
            <a:ext cx="310896" cy="310896"/>
          </a:xfrm>
          <a:prstGeom prst="rect">
            <a:avLst/>
          </a:prstGeom>
        </p:spPr>
      </p:pic>
      <p:sp>
        <p:nvSpPr>
          <p:cNvPr id="1048789" name="Text 22"/>
          <p:cNvSpPr/>
          <p:nvPr/>
        </p:nvSpPr>
        <p:spPr>
          <a:xfrm>
            <a:off x="886968" y="3300984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Full documentation: UML (Use Case, Class, Sequence) + Gantt charts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90" name="Shape 23"/>
          <p:cNvSpPr/>
          <p:nvPr/>
        </p:nvSpPr>
        <p:spPr>
          <a:xfrm>
            <a:off x="347472" y="3749040"/>
            <a:ext cx="4863263" cy="438912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9718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840480"/>
            <a:ext cx="310896" cy="310896"/>
          </a:xfrm>
          <a:prstGeom prst="rect">
            <a:avLst/>
          </a:prstGeom>
        </p:spPr>
      </p:pic>
      <p:sp>
        <p:nvSpPr>
          <p:cNvPr id="1048791" name="Text 24"/>
          <p:cNvSpPr/>
          <p:nvPr/>
        </p:nvSpPr>
        <p:spPr>
          <a:xfrm>
            <a:off x="886968" y="3813048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Multi-page HTML/CSS presentation website included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92" name="Shape 25"/>
          <p:cNvSpPr/>
          <p:nvPr/>
        </p:nvSpPr>
        <p:spPr>
          <a:xfrm>
            <a:off x="347472" y="4261104"/>
            <a:ext cx="4863263" cy="438912"/>
          </a:xfrm>
          <a:prstGeom prst="rect">
            <a:avLst/>
          </a:prstGeom>
          <a:solidFill>
            <a:srgbClr val="22334F"/>
          </a:solidFill>
          <a:ln w="12700">
            <a:solidFill>
              <a:srgbClr val="2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9718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4352544"/>
            <a:ext cx="310896" cy="310896"/>
          </a:xfrm>
          <a:prstGeom prst="rect">
            <a:avLst/>
          </a:prstGeom>
        </p:spPr>
      </p:pic>
      <p:sp>
        <p:nvSpPr>
          <p:cNvPr id="1048793" name="Text 26"/>
          <p:cNvSpPr/>
          <p:nvPr/>
        </p:nvSpPr>
        <p:spPr>
          <a:xfrm>
            <a:off x="886968" y="432511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 Light" pitchFamily="34" charset="-122"/>
                <a:cs typeface="Times New Roman" panose="02020603050405020304" pitchFamily="18" charset="0"/>
              </a:rPr>
              <a:t>Usable by any wedding organizer no technical background required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94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48795" name="Text 28"/>
          <p:cNvSpPr/>
          <p:nvPr/>
        </p:nvSpPr>
        <p:spPr>
          <a:xfrm>
            <a:off x="0" y="4828032"/>
            <a:ext cx="5245763" cy="3154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WIGMS  ·  Built with C + GTK  ·  Software Engineering  ·  Thank you for your attention</a:t>
            </a:r>
            <a:endParaRPr lang="en-US" sz="11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040EA6-D4D5-0F92-5771-525D914D7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5764" y="621792"/>
            <a:ext cx="3898235" cy="45217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642</Words>
  <Application>Microsoft Office PowerPoint</Application>
  <PresentationFormat>Affichage à l'écran (16:9)</PresentationFormat>
  <Paragraphs>132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4" baseType="lpstr">
      <vt:lpstr>Algerian</vt:lpstr>
      <vt:lpstr>Arial</vt:lpstr>
      <vt:lpstr>Calibri</vt:lpstr>
      <vt:lpstr>Calibri Light</vt:lpstr>
      <vt:lpstr>Consolas</vt:lpstr>
      <vt:lpstr>Georgia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WIGMS – Wedding Guest Information Management System</dc:title>
  <dc:creator>PptxGenJS</dc:creator>
  <cp:lastModifiedBy>hp</cp:lastModifiedBy>
  <cp:revision>2</cp:revision>
  <dcterms:created xsi:type="dcterms:W3CDTF">2026-05-18T07:34:57Z</dcterms:created>
  <dcterms:modified xsi:type="dcterms:W3CDTF">2026-05-28T15:41:07Z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ab444477dcc9492e8653b2cbe3941875</vt:lpwstr>
  </property>
</Properties>
</file>